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80" r:id="rId19"/>
    <p:sldId id="2581" r:id="rId20"/>
    <p:sldId id="2582" r:id="rId21"/>
    <p:sldId id="2583" r:id="rId22"/>
    <p:sldId id="2578" r:id="rId23"/>
    <p:sldId id="25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bile AI Agent for Real-Time Nutritional Analysis" id="{AD658241-C85F-4D9E-8B35-DFFA79CB07C4}">
          <p14:sldIdLst>
            <p14:sldId id="2561"/>
          </p14:sldIdLst>
        </p14:section>
        <p14:section name="Introduction" id="{9FA6341F-45E0-4352-9AC0-83D062181768}">
          <p14:sldIdLst>
            <p14:sldId id="2562"/>
            <p14:sldId id="2563"/>
          </p14:sldIdLst>
        </p14:section>
        <p14:section name="Problem Statement" id="{166D7246-E6AD-493C-A3CD-A777A5473681}">
          <p14:sldIdLst>
            <p14:sldId id="2564"/>
            <p14:sldId id="2565"/>
          </p14:sldIdLst>
        </p14:section>
        <p14:section name="Solution Overview" id="{D049B06A-0AC1-43C9-AC45-C3758B015778}">
          <p14:sldIdLst>
            <p14:sldId id="2566"/>
            <p14:sldId id="2567"/>
          </p14:sldIdLst>
        </p14:section>
        <p14:section name="Architecture" id="{6011F1B1-5A63-4315-B18D-9E23CDBC9E2C}">
          <p14:sldIdLst>
            <p14:sldId id="2568"/>
            <p14:sldId id="2569"/>
          </p14:sldIdLst>
        </p14:section>
        <p14:section name="Tech Stack" id="{73E053B6-D9CA-44E0-B509-AE88ED4173B2}">
          <p14:sldIdLst>
            <p14:sldId id="2570"/>
            <p14:sldId id="2571"/>
          </p14:sldIdLst>
        </p14:section>
        <p14:section name="Workflow" id="{7DEED96D-F9AF-4A76-8756-5002AA6ECD7C}">
          <p14:sldIdLst>
            <p14:sldId id="2572"/>
            <p14:sldId id="2573"/>
          </p14:sldIdLst>
        </p14:section>
        <p14:section name="MVP Features" id="{26D43C04-E9C7-4616-8FE3-B250769641E7}">
          <p14:sldIdLst>
            <p14:sldId id="2574"/>
            <p14:sldId id="2575"/>
          </p14:sldIdLst>
        </p14:section>
        <p14:section name="Next Steps" id="{9D4F6831-57DA-4C4A-8A59-B531845EAB39}">
          <p14:sldIdLst>
            <p14:sldId id="2576"/>
            <p14:sldId id="2577"/>
            <p14:sldId id="2580"/>
            <p14:sldId id="2581"/>
            <p14:sldId id="2582"/>
            <p14:sldId id="2583"/>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4D8613-C542-34E3-A4F3-BC4026BF3F35}" v="363" dt="2025-09-18T23:21:07.7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88794-C1B2-40D8-BD65-E27EDEE2527D}" type="datetimeFigureOut">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44452-E813-4F19-BDCB-A89B28A9CBA3}" type="slidenum">
              <a:t>‹#›</a:t>
            </a:fld>
            <a:endParaRPr lang="en-US"/>
          </a:p>
        </p:txBody>
      </p:sp>
    </p:spTree>
    <p:extLst>
      <p:ext uri="{BB962C8B-B14F-4D97-AF65-F5344CB8AC3E}">
        <p14:creationId xmlns:p14="http://schemas.microsoft.com/office/powerpoint/2010/main" val="173779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2754656-9940-4A8D-B8A4-28507BAF7BEC}" type="slidenum">
              <a:t>1</a:t>
            </a:fld>
            <a:endParaRPr lang="en-US"/>
          </a:p>
        </p:txBody>
      </p:sp>
    </p:spTree>
    <p:extLst>
      <p:ext uri="{BB962C8B-B14F-4D97-AF65-F5344CB8AC3E}">
        <p14:creationId xmlns:p14="http://schemas.microsoft.com/office/powerpoint/2010/main" val="93002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Introducing a Mobile AI Agent for Real-Time Nutritional Analysis</a:t>
            </a:r>
          </a:p>
        </p:txBody>
      </p:sp>
      <p:sp>
        <p:nvSpPr>
          <p:cNvPr id="4" name="Slide Number Placeholder 3"/>
          <p:cNvSpPr>
            <a:spLocks noGrp="1"/>
          </p:cNvSpPr>
          <p:nvPr>
            <p:ph type="sldNum" sz="quarter" idx="5"/>
          </p:nvPr>
        </p:nvSpPr>
        <p:spPr/>
        <p:txBody>
          <a:bodyPr/>
          <a:lstStyle/>
          <a:p>
            <a:fld id="{B2754656-9940-4A8D-B8A4-28507BAF7BEC}" type="slidenum">
              <a:t>2</a:t>
            </a:fld>
            <a:endParaRPr lang="en-US"/>
          </a:p>
        </p:txBody>
      </p:sp>
    </p:spTree>
    <p:extLst>
      <p:ext uri="{BB962C8B-B14F-4D97-AF65-F5344CB8AC3E}">
        <p14:creationId xmlns:p14="http://schemas.microsoft.com/office/powerpoint/2010/main" val="3094213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introduces a groundbreaking concept: a mobile AI agent that leverages image recognition and GPT-4o Mini to perform real-time nutritional analysis of meals. The goal is to revolutionize how individuals track and understand their dietary intake by automating the process of food logging and nutritional estimation. Traditional methods of manually entering food data into apps are often inaccurate, time-consuming, and lack personalization. By integrating advanced computer vision and language models, this AI agent can identify food items from a photo, estimate their nutritional content, and provide personalized feedback instantly. This innovation not only enhances user convenience but also promotes healthier eating habits through real-time insights and recommendations. The mobile AI agent is designed to be intuitive, efficient, and highly responsive, making it a valuable tool for health-conscious individuals, fitness enthusiasts, and anyone looking to improve their dietary habits.</a:t>
            </a:r>
          </a:p>
        </p:txBody>
      </p:sp>
      <p:sp>
        <p:nvSpPr>
          <p:cNvPr id="4" name="Slide Number Placeholder 3"/>
          <p:cNvSpPr>
            <a:spLocks noGrp="1"/>
          </p:cNvSpPr>
          <p:nvPr>
            <p:ph type="sldNum" sz="quarter" idx="5"/>
          </p:nvPr>
        </p:nvSpPr>
        <p:spPr/>
        <p:txBody>
          <a:bodyPr/>
          <a:lstStyle/>
          <a:p>
            <a:fld id="{B2754656-9940-4A8D-B8A4-28507BAF7BEC}" type="slidenum">
              <a:t>3</a:t>
            </a:fld>
            <a:endParaRPr lang="en-US"/>
          </a:p>
        </p:txBody>
      </p:sp>
    </p:spTree>
    <p:extLst>
      <p:ext uri="{BB962C8B-B14F-4D97-AF65-F5344CB8AC3E}">
        <p14:creationId xmlns:p14="http://schemas.microsoft.com/office/powerpoint/2010/main" val="3962439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in Manual Food Logging</a:t>
            </a:r>
          </a:p>
        </p:txBody>
      </p:sp>
      <p:sp>
        <p:nvSpPr>
          <p:cNvPr id="4" name="Slide Number Placeholder 3"/>
          <p:cNvSpPr>
            <a:spLocks noGrp="1"/>
          </p:cNvSpPr>
          <p:nvPr>
            <p:ph type="sldNum" sz="quarter" idx="5"/>
          </p:nvPr>
        </p:nvSpPr>
        <p:spPr/>
        <p:txBody>
          <a:bodyPr/>
          <a:lstStyle/>
          <a:p>
            <a:fld id="{B2754656-9940-4A8D-B8A4-28507BAF7BEC}" type="slidenum">
              <a:t>4</a:t>
            </a:fld>
            <a:endParaRPr lang="en-US"/>
          </a:p>
        </p:txBody>
      </p:sp>
    </p:spTree>
    <p:extLst>
      <p:ext uri="{BB962C8B-B14F-4D97-AF65-F5344CB8AC3E}">
        <p14:creationId xmlns:p14="http://schemas.microsoft.com/office/powerpoint/2010/main" val="3908107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Manual food logging presents several challenges that hinder effective dietary tracking. Firstly, it is a time-consuming process that requires users to search for food items, estimate portion sizes, and input data manually. This often leads to inaccuracies and inconsistencies in the logged information. Secondly, users struggle to estimate calories and nutritional values accurately, especially when dealing with complex meals or unfamiliar foods. This lack of precision can undermine the effectiveness of dietary monitoring and goal setting. Lastly, most existing solutions do not offer personalized dietary feedback in real-time, limiting their usefulness in guiding users toward healthier choices. These limitations highlight the need for an automated, intelligent system that can streamline the process, improve accuracy, and provide meaningful insights. By addressing these pain points, the proposed mobile AI agent aims to transform the user experience and enhance the effectiveness of nutritional tracking.</a:t>
            </a:r>
          </a:p>
        </p:txBody>
      </p:sp>
      <p:sp>
        <p:nvSpPr>
          <p:cNvPr id="4" name="Slide Number Placeholder 3"/>
          <p:cNvSpPr>
            <a:spLocks noGrp="1"/>
          </p:cNvSpPr>
          <p:nvPr>
            <p:ph type="sldNum" sz="quarter" idx="5"/>
          </p:nvPr>
        </p:nvSpPr>
        <p:spPr/>
        <p:txBody>
          <a:bodyPr/>
          <a:lstStyle/>
          <a:p>
            <a:fld id="{B2754656-9940-4A8D-B8A4-28507BAF7BEC}" type="slidenum">
              <a:t>5</a:t>
            </a:fld>
            <a:endParaRPr lang="en-US"/>
          </a:p>
        </p:txBody>
      </p:sp>
    </p:spTree>
    <p:extLst>
      <p:ext uri="{BB962C8B-B14F-4D97-AF65-F5344CB8AC3E}">
        <p14:creationId xmlns:p14="http://schemas.microsoft.com/office/powerpoint/2010/main" val="3866367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Capabilities of the Mobile AI Agent</a:t>
            </a:r>
          </a:p>
        </p:txBody>
      </p:sp>
      <p:sp>
        <p:nvSpPr>
          <p:cNvPr id="4" name="Slide Number Placeholder 3"/>
          <p:cNvSpPr>
            <a:spLocks noGrp="1"/>
          </p:cNvSpPr>
          <p:nvPr>
            <p:ph type="sldNum" sz="quarter" idx="5"/>
          </p:nvPr>
        </p:nvSpPr>
        <p:spPr/>
        <p:txBody>
          <a:bodyPr/>
          <a:lstStyle/>
          <a:p>
            <a:fld id="{B2754656-9940-4A8D-B8A4-28507BAF7BEC}" type="slidenum">
              <a:t>6</a:t>
            </a:fld>
            <a:endParaRPr lang="en-US"/>
          </a:p>
        </p:txBody>
      </p:sp>
    </p:spTree>
    <p:extLst>
      <p:ext uri="{BB962C8B-B14F-4D97-AF65-F5344CB8AC3E}">
        <p14:creationId xmlns:p14="http://schemas.microsoft.com/office/powerpoint/2010/main" val="4042370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solution is a mobile AI agent that combines computer vision and GPT-4o Mini to deliver real-time nutritional analysis. This agent is capable of identifying food items from a photo using advanced image recognition models such as YOLOv8 or MobileNet. Once the food items are recognized, the agent estimates their calorie content and nutritional values by referencing comprehensive databases like USDA FoodData Central or Open Food Facts. The integration of GPT-4o Mini enables the agent to interpret user queries, provide personalized dietary feedback, and engage in natural language conversations. Additionally, the agent automates meal logging and tracks user goals, offering a seamless and intelligent dietary management experience. This solution represents a significant improvement over traditional methods by enhancing accuracy, reducing user effort, and delivering actionable insights in real-time. It empowers users to make informed dietary decisions and maintain healthier lifestyles with minimal friction.</a:t>
            </a:r>
          </a:p>
        </p:txBody>
      </p:sp>
      <p:sp>
        <p:nvSpPr>
          <p:cNvPr id="4" name="Slide Number Placeholder 3"/>
          <p:cNvSpPr>
            <a:spLocks noGrp="1"/>
          </p:cNvSpPr>
          <p:nvPr>
            <p:ph type="sldNum" sz="quarter" idx="5"/>
          </p:nvPr>
        </p:nvSpPr>
        <p:spPr/>
        <p:txBody>
          <a:bodyPr/>
          <a:lstStyle/>
          <a:p>
            <a:fld id="{B2754656-9940-4A8D-B8A4-28507BAF7BEC}" type="slidenum">
              <a:t>7</a:t>
            </a:fld>
            <a:endParaRPr lang="en-US"/>
          </a:p>
        </p:txBody>
      </p:sp>
    </p:spTree>
    <p:extLst>
      <p:ext uri="{BB962C8B-B14F-4D97-AF65-F5344CB8AC3E}">
        <p14:creationId xmlns:p14="http://schemas.microsoft.com/office/powerpoint/2010/main" val="2883366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Components and Integration</a:t>
            </a:r>
          </a:p>
        </p:txBody>
      </p:sp>
      <p:sp>
        <p:nvSpPr>
          <p:cNvPr id="4" name="Slide Number Placeholder 3"/>
          <p:cNvSpPr>
            <a:spLocks noGrp="1"/>
          </p:cNvSpPr>
          <p:nvPr>
            <p:ph type="sldNum" sz="quarter" idx="5"/>
          </p:nvPr>
        </p:nvSpPr>
        <p:spPr/>
        <p:txBody>
          <a:bodyPr/>
          <a:lstStyle/>
          <a:p>
            <a:fld id="{B2754656-9940-4A8D-B8A4-28507BAF7BEC}" type="slidenum">
              <a:t>8</a:t>
            </a:fld>
            <a:endParaRPr lang="en-US"/>
          </a:p>
        </p:txBody>
      </p:sp>
    </p:spTree>
    <p:extLst>
      <p:ext uri="{BB962C8B-B14F-4D97-AF65-F5344CB8AC3E}">
        <p14:creationId xmlns:p14="http://schemas.microsoft.com/office/powerpoint/2010/main" val="933842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of the mobile AI agent consists of several integrated components that work together to deliver real-time nutritional analysis. At the front end is the mobile app interface, developed using frameworks like Flutter or React Native, which allows users to capture meal images and receive feedback. The captured image is processed by an image recognition model, such as YOLOv8 or MobileNet, which identifies the food items present. These identified items are then mapped to a nutritional database, such as USDA FoodData Central or Open Food Facts, to retrieve calorie and nutrient information. GPT-4o Mini is employed to interpret the context, estimate portion sizes, and generate personalized feedback. An autonomous agent framework, like LangChain or AutoGen, orchestrates the workflow, handles user interactions, and manages goal tracking. This modular architecture ensures scalability, flexibility, and efficient performance, enabling the system to deliver accurate and timely nutritional insights to users.</a:t>
            </a:r>
          </a:p>
        </p:txBody>
      </p:sp>
      <p:sp>
        <p:nvSpPr>
          <p:cNvPr id="4" name="Slide Number Placeholder 3"/>
          <p:cNvSpPr>
            <a:spLocks noGrp="1"/>
          </p:cNvSpPr>
          <p:nvPr>
            <p:ph type="sldNum" sz="quarter" idx="5"/>
          </p:nvPr>
        </p:nvSpPr>
        <p:spPr/>
        <p:txBody>
          <a:bodyPr/>
          <a:lstStyle/>
          <a:p>
            <a:fld id="{B2754656-9940-4A8D-B8A4-28507BAF7BEC}" type="slidenum">
              <a:t>9</a:t>
            </a:fld>
            <a:endParaRPr lang="en-US"/>
          </a:p>
        </p:txBody>
      </p:sp>
    </p:spTree>
    <p:extLst>
      <p:ext uri="{BB962C8B-B14F-4D97-AF65-F5344CB8AC3E}">
        <p14:creationId xmlns:p14="http://schemas.microsoft.com/office/powerpoint/2010/main" val="1984861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Technologies and Tools Used</a:t>
            </a:r>
          </a:p>
        </p:txBody>
      </p:sp>
      <p:sp>
        <p:nvSpPr>
          <p:cNvPr id="4" name="Slide Number Placeholder 3"/>
          <p:cNvSpPr>
            <a:spLocks noGrp="1"/>
          </p:cNvSpPr>
          <p:nvPr>
            <p:ph type="sldNum" sz="quarter" idx="5"/>
          </p:nvPr>
        </p:nvSpPr>
        <p:spPr/>
        <p:txBody>
          <a:bodyPr/>
          <a:lstStyle/>
          <a:p>
            <a:fld id="{B2754656-9940-4A8D-B8A4-28507BAF7BEC}" type="slidenum">
              <a:t>10</a:t>
            </a:fld>
            <a:endParaRPr lang="en-US"/>
          </a:p>
        </p:txBody>
      </p:sp>
    </p:spTree>
    <p:extLst>
      <p:ext uri="{BB962C8B-B14F-4D97-AF65-F5344CB8AC3E}">
        <p14:creationId xmlns:p14="http://schemas.microsoft.com/office/powerpoint/2010/main" val="1816229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mobile AI agent leverages a robust and modern tech stack to ensure high performance and reliability. For image recognition, models like YOLOv8 and MobileNet are used due to their efficiency and accuracy in object detection tasks. Nutritional data is sourced from trusted databases such as the USDA API and Open Food Facts, providing comprehensive and up-to-date information. GPT-4o Mini serves as the language model, enabling natural language understanding and personalized feedback generation. The autonomous agent logic is implemented using frameworks like LangChain or AutoGen, which facilitate task management and user interaction. The mobile application is developed using cross-platform frameworks such as Flutter or React Native, ensuring a smooth user experience across devices. Backend services, if needed, can be built using FastAPI or Firebase to handle data storage, authentication, and API integration. This tech stack is chosen for its compatibility, scalability, and ability to support real-time processing and interaction.</a:t>
            </a:r>
          </a:p>
        </p:txBody>
      </p:sp>
      <p:sp>
        <p:nvSpPr>
          <p:cNvPr id="4" name="Slide Number Placeholder 3"/>
          <p:cNvSpPr>
            <a:spLocks noGrp="1"/>
          </p:cNvSpPr>
          <p:nvPr>
            <p:ph type="sldNum" sz="quarter" idx="5"/>
          </p:nvPr>
        </p:nvSpPr>
        <p:spPr/>
        <p:txBody>
          <a:bodyPr/>
          <a:lstStyle/>
          <a:p>
            <a:fld id="{B2754656-9940-4A8D-B8A4-28507BAF7BEC}" type="slidenum">
              <a:t>11</a:t>
            </a:fld>
            <a:endParaRPr lang="en-US"/>
          </a:p>
        </p:txBody>
      </p:sp>
    </p:spTree>
    <p:extLst>
      <p:ext uri="{BB962C8B-B14F-4D97-AF65-F5344CB8AC3E}">
        <p14:creationId xmlns:p14="http://schemas.microsoft.com/office/powerpoint/2010/main" val="2875092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Step-by-Step User Interaction</a:t>
            </a:r>
          </a:p>
        </p:txBody>
      </p:sp>
      <p:sp>
        <p:nvSpPr>
          <p:cNvPr id="4" name="Slide Number Placeholder 3"/>
          <p:cNvSpPr>
            <a:spLocks noGrp="1"/>
          </p:cNvSpPr>
          <p:nvPr>
            <p:ph type="sldNum" sz="quarter" idx="5"/>
          </p:nvPr>
        </p:nvSpPr>
        <p:spPr/>
        <p:txBody>
          <a:bodyPr/>
          <a:lstStyle/>
          <a:p>
            <a:fld id="{B2754656-9940-4A8D-B8A4-28507BAF7BEC}" type="slidenum">
              <a:t>12</a:t>
            </a:fld>
            <a:endParaRPr lang="en-US"/>
          </a:p>
        </p:txBody>
      </p:sp>
    </p:spTree>
    <p:extLst>
      <p:ext uri="{BB962C8B-B14F-4D97-AF65-F5344CB8AC3E}">
        <p14:creationId xmlns:p14="http://schemas.microsoft.com/office/powerpoint/2010/main" val="1223360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workflow of the mobile AI agent is designed to be intuitive and efficient, providing users with instant nutritional insights. The process begins when a user takes a photo of their meal using the mobile app. The image is then analyzed by a vision model, such as YOLOv8 or MobileNet, which identifies the food items present. Once identified, the system estimates portion sizes and retrieves nutritional data from databases like USDA or Open Food Facts. GPT-4o Mini interprets the context, refines the estimates, and generates personalized feedback based on the user's dietary goals and preferences. The autonomous agent then logs the meal, updates the user's daily intake, and may provide suggestions or reminders. This seamless workflow ensures that users receive accurate, real-time information with minimal effort, enhancing their ability to make informed dietary choices and maintain consistent tracking of their nutritional intake.</a:t>
            </a:r>
          </a:p>
        </p:txBody>
      </p:sp>
      <p:sp>
        <p:nvSpPr>
          <p:cNvPr id="4" name="Slide Number Placeholder 3"/>
          <p:cNvSpPr>
            <a:spLocks noGrp="1"/>
          </p:cNvSpPr>
          <p:nvPr>
            <p:ph type="sldNum" sz="quarter" idx="5"/>
          </p:nvPr>
        </p:nvSpPr>
        <p:spPr/>
        <p:txBody>
          <a:bodyPr/>
          <a:lstStyle/>
          <a:p>
            <a:fld id="{B2754656-9940-4A8D-B8A4-28507BAF7BEC}" type="slidenum">
              <a:t>13</a:t>
            </a:fld>
            <a:endParaRPr lang="en-US"/>
          </a:p>
        </p:txBody>
      </p:sp>
    </p:spTree>
    <p:extLst>
      <p:ext uri="{BB962C8B-B14F-4D97-AF65-F5344CB8AC3E}">
        <p14:creationId xmlns:p14="http://schemas.microsoft.com/office/powerpoint/2010/main" val="177833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Functionalities of the Minimum Viable Product</a:t>
            </a:r>
          </a:p>
        </p:txBody>
      </p:sp>
      <p:sp>
        <p:nvSpPr>
          <p:cNvPr id="4" name="Slide Number Placeholder 3"/>
          <p:cNvSpPr>
            <a:spLocks noGrp="1"/>
          </p:cNvSpPr>
          <p:nvPr>
            <p:ph type="sldNum" sz="quarter" idx="5"/>
          </p:nvPr>
        </p:nvSpPr>
        <p:spPr/>
        <p:txBody>
          <a:bodyPr/>
          <a:lstStyle/>
          <a:p>
            <a:fld id="{B2754656-9940-4A8D-B8A4-28507BAF7BEC}" type="slidenum">
              <a:t>14</a:t>
            </a:fld>
            <a:endParaRPr lang="en-US"/>
          </a:p>
        </p:txBody>
      </p:sp>
    </p:spTree>
    <p:extLst>
      <p:ext uri="{BB962C8B-B14F-4D97-AF65-F5344CB8AC3E}">
        <p14:creationId xmlns:p14="http://schemas.microsoft.com/office/powerpoint/2010/main" val="578047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Minimum Viable Product (MVP) of the mobile AI agent includes several essential features designed to demonstrate the core functionality and value of the system. Users can snap a photo of their meal and instantly receive calorie and nutritional information, eliminating the need for manual entry. The system automatically logs meals, maintaining a record of daily intake without user intervention. A daily summary provides users with an overview of their nutritional consumption, helping them stay on track with their dietary goals. Additionally, GPT-4o Mini offers personalized suggestions based on the user's eating habits and preferences, enhancing the relevance and usefulness of the feedback. These features collectively provide a compelling user experience, showcasing the potential of the AI agent to transform dietary tracking and promote healthier eating behaviors. The MVP serves as a foundation for future enhancements and user-driven improvements.</a:t>
            </a:r>
          </a:p>
        </p:txBody>
      </p:sp>
      <p:sp>
        <p:nvSpPr>
          <p:cNvPr id="4" name="Slide Number Placeholder 3"/>
          <p:cNvSpPr>
            <a:spLocks noGrp="1"/>
          </p:cNvSpPr>
          <p:nvPr>
            <p:ph type="sldNum" sz="quarter" idx="5"/>
          </p:nvPr>
        </p:nvSpPr>
        <p:spPr/>
        <p:txBody>
          <a:bodyPr/>
          <a:lstStyle/>
          <a:p>
            <a:fld id="{B2754656-9940-4A8D-B8A4-28507BAF7BEC}" type="slidenum">
              <a:t>15</a:t>
            </a:fld>
            <a:endParaRPr lang="en-US"/>
          </a:p>
        </p:txBody>
      </p:sp>
    </p:spTree>
    <p:extLst>
      <p:ext uri="{BB962C8B-B14F-4D97-AF65-F5344CB8AC3E}">
        <p14:creationId xmlns:p14="http://schemas.microsoft.com/office/powerpoint/2010/main" val="3101433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Development and Deployment Plan</a:t>
            </a:r>
          </a:p>
        </p:txBody>
      </p:sp>
      <p:sp>
        <p:nvSpPr>
          <p:cNvPr id="4" name="Slide Number Placeholder 3"/>
          <p:cNvSpPr>
            <a:spLocks noGrp="1"/>
          </p:cNvSpPr>
          <p:nvPr>
            <p:ph type="sldNum" sz="quarter" idx="5"/>
          </p:nvPr>
        </p:nvSpPr>
        <p:spPr/>
        <p:txBody>
          <a:bodyPr/>
          <a:lstStyle/>
          <a:p>
            <a:fld id="{B2754656-9940-4A8D-B8A4-28507BAF7BEC}" type="slidenum">
              <a:t>16</a:t>
            </a:fld>
            <a:endParaRPr lang="en-US"/>
          </a:p>
        </p:txBody>
      </p:sp>
    </p:spTree>
    <p:extLst>
      <p:ext uri="{BB962C8B-B14F-4D97-AF65-F5344CB8AC3E}">
        <p14:creationId xmlns:p14="http://schemas.microsoft.com/office/powerpoint/2010/main" val="4190481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next steps in the development of the mobile AI agent involve a structured and phased approach. The first step is to build and train the vision model using relevant food image datasets to ensure accurate recognition. Concurrently, GPT-4o Mini will be integrated to handle natural language processing and personalized feedback generation. The mobile app interface will be developed using Flutter or React Native, focusing on user experience and real-time interaction. Integration with nutritional databases like USDA and Open Food Facts will be established to provide reliable data. Finally, the MVP will be launched to a select group of users for testing and feedback. This feedback will guide iterative improvements and feature enhancements. The goal is to refine the system based on real-world usage and prepare for a broader rollout. This development plan ensures a robust, user-centric product that meets the needs of its target audience.</a:t>
            </a:r>
          </a:p>
        </p:txBody>
      </p:sp>
      <p:sp>
        <p:nvSpPr>
          <p:cNvPr id="4" name="Slide Number Placeholder 3"/>
          <p:cNvSpPr>
            <a:spLocks noGrp="1"/>
          </p:cNvSpPr>
          <p:nvPr>
            <p:ph type="sldNum" sz="quarter" idx="5"/>
          </p:nvPr>
        </p:nvSpPr>
        <p:spPr/>
        <p:txBody>
          <a:bodyPr/>
          <a:lstStyle/>
          <a:p>
            <a:fld id="{B2754656-9940-4A8D-B8A4-28507BAF7BEC}" type="slidenum">
              <a:t>17</a:t>
            </a:fld>
            <a:endParaRPr lang="en-US"/>
          </a:p>
        </p:txBody>
      </p:sp>
    </p:spTree>
    <p:extLst>
      <p:ext uri="{BB962C8B-B14F-4D97-AF65-F5344CB8AC3E}">
        <p14:creationId xmlns:p14="http://schemas.microsoft.com/office/powerpoint/2010/main" val="2410651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E9B1-6CA7-3AA0-09F0-DECABA5B5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C6CF9-59A7-9729-68CC-00210371F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A7C4E-45EA-934E-30BD-0243CDA77906}"/>
              </a:ext>
            </a:extLst>
          </p:cNvPr>
          <p:cNvSpPr>
            <a:spLocks noGrp="1"/>
          </p:cNvSpPr>
          <p:nvPr>
            <p:ph type="body" idx="1"/>
          </p:nvPr>
        </p:nvSpPr>
        <p:spPr/>
        <p:txBody>
          <a:bodyPr/>
          <a:lstStyle/>
          <a:p>
            <a:r>
              <a:rPr lang="en-US"/>
              <a:t>Development and Deployment Plan</a:t>
            </a:r>
          </a:p>
        </p:txBody>
      </p:sp>
      <p:sp>
        <p:nvSpPr>
          <p:cNvPr id="4" name="Slide Number Placeholder 3">
            <a:extLst>
              <a:ext uri="{FF2B5EF4-FFF2-40B4-BE49-F238E27FC236}">
                <a16:creationId xmlns:a16="http://schemas.microsoft.com/office/drawing/2014/main" id="{0A2EAB8E-CDC5-A5FE-42F8-9994892A53CA}"/>
              </a:ext>
            </a:extLst>
          </p:cNvPr>
          <p:cNvSpPr>
            <a:spLocks noGrp="1"/>
          </p:cNvSpPr>
          <p:nvPr>
            <p:ph type="sldNum" sz="quarter" idx="5"/>
          </p:nvPr>
        </p:nvSpPr>
        <p:spPr/>
        <p:txBody>
          <a:bodyPr/>
          <a:lstStyle/>
          <a:p>
            <a:fld id="{B2754656-9940-4A8D-B8A4-28507BAF7BEC}" type="slidenum">
              <a:t>22</a:t>
            </a:fld>
            <a:endParaRPr lang="en-US"/>
          </a:p>
        </p:txBody>
      </p:sp>
    </p:spTree>
    <p:extLst>
      <p:ext uri="{BB962C8B-B14F-4D97-AF65-F5344CB8AC3E}">
        <p14:creationId xmlns:p14="http://schemas.microsoft.com/office/powerpoint/2010/main" val="600863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7E57-4323-5419-30C2-E7DE577B5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8A560-4136-54CA-5659-094595870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BC6B1-6211-4A65-89A6-9D8DFBC783C5}"/>
              </a:ext>
            </a:extLst>
          </p:cNvPr>
          <p:cNvSpPr>
            <a:spLocks noGrp="1"/>
          </p:cNvSpPr>
          <p:nvPr>
            <p:ph type="body" idx="1"/>
          </p:nvPr>
        </p:nvSpPr>
        <p:spPr/>
        <p:txBody>
          <a:bodyPr/>
          <a:lstStyle/>
          <a:p>
            <a:r>
              <a:rPr lang="en-US"/>
              <a:t>Development and Deployment Plan</a:t>
            </a:r>
          </a:p>
        </p:txBody>
      </p:sp>
      <p:sp>
        <p:nvSpPr>
          <p:cNvPr id="4" name="Slide Number Placeholder 3">
            <a:extLst>
              <a:ext uri="{FF2B5EF4-FFF2-40B4-BE49-F238E27FC236}">
                <a16:creationId xmlns:a16="http://schemas.microsoft.com/office/drawing/2014/main" id="{1A9F222E-6E4C-0D68-ACDA-AC236E59AA15}"/>
              </a:ext>
            </a:extLst>
          </p:cNvPr>
          <p:cNvSpPr>
            <a:spLocks noGrp="1"/>
          </p:cNvSpPr>
          <p:nvPr>
            <p:ph type="sldNum" sz="quarter" idx="5"/>
          </p:nvPr>
        </p:nvSpPr>
        <p:spPr/>
        <p:txBody>
          <a:bodyPr/>
          <a:lstStyle/>
          <a:p>
            <a:fld id="{B2754656-9940-4A8D-B8A4-28507BAF7BEC}" type="slidenum">
              <a:t>23</a:t>
            </a:fld>
            <a:endParaRPr lang="en-US"/>
          </a:p>
        </p:txBody>
      </p:sp>
    </p:spTree>
    <p:extLst>
      <p:ext uri="{BB962C8B-B14F-4D97-AF65-F5344CB8AC3E}">
        <p14:creationId xmlns:p14="http://schemas.microsoft.com/office/powerpoint/2010/main" val="4033840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95482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10/9/2025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1349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900492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162044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275786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330420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1338904"/>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5978460"/>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10/9/2025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3369590"/>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10/9/2025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4702152"/>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10/9/2025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058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10/9/2025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266102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5894726"/>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10/9/2025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8279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10/9/2025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9392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10/9/2025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7790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10/9/2025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5321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10/9/2025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6616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10/9/2025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8381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10/9/2025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57390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10/9/2025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833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45437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4551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10/9/2025</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680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10/9/2025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29724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36959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5252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7660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01841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10/9/2025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66871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10/9/2025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3968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10/9/2025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24030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3751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75021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98390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7447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10/9/2025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18749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10/9/2025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10151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41349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37400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01785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623478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279757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14623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6604"/>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10/9/2025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798370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10/9/2025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49784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10/9/2025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2372599"/>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10/9/2025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292604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790603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42126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3854363"/>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0532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10/9/2025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2666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10/9/2025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53256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10/9/2025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4445326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10/9/2025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7077323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10/9/2025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88413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10/9/2025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23928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6963322"/>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10/9/2025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706316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10/9/2025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10889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Male hand holding phone, online learning app on phone screen">
            <a:extLst>
              <a:ext uri="{FF2B5EF4-FFF2-40B4-BE49-F238E27FC236}">
                <a16:creationId xmlns:a16="http://schemas.microsoft.com/office/drawing/2014/main" id="{66BE4E1A-9946-4E68-AB31-DEB08D02E5E6}"/>
              </a:ext>
            </a:extLst>
          </p:cNvPr>
          <p:cNvPicPr>
            <a:picLocks noGrp="1" noChangeAspect="1"/>
          </p:cNvPicPr>
          <p:nvPr>
            <p:ph type="pic" sz="quarter" idx="13"/>
          </p:nvPr>
        </p:nvPicPr>
        <p:blipFill>
          <a:blip r:embed="rId3"/>
          <a:srcRect t="5346" r="-1" b="10426"/>
          <a:stretch>
            <a:fillRect/>
          </a:stretch>
        </p:blipFill>
        <p:spPr>
          <a:xfrm>
            <a:off x="20" y="10"/>
            <a:ext cx="12198076" cy="6857990"/>
          </a:xfrm>
          <a:prstGeom prst="rect">
            <a:avLst/>
          </a:prstGeom>
          <a:noFill/>
        </p:spPr>
      </p:pic>
      <p:sp>
        <p:nvSpPr>
          <p:cNvPr id="2" name="Title 1">
            <a:extLst>
              <a:ext uri="{FF2B5EF4-FFF2-40B4-BE49-F238E27FC236}">
                <a16:creationId xmlns:a16="http://schemas.microsoft.com/office/drawing/2014/main" id="{2FD06B0A-3C24-BE92-C2D9-2E04AA07410E}"/>
              </a:ext>
            </a:extLst>
          </p:cNvPr>
          <p:cNvSpPr>
            <a:spLocks noGrp="1"/>
          </p:cNvSpPr>
          <p:nvPr>
            <p:ph type="ctrTitle"/>
          </p:nvPr>
        </p:nvSpPr>
        <p:spPr>
          <a:xfrm>
            <a:off x="6914324" y="2039713"/>
            <a:ext cx="4645243" cy="2950149"/>
          </a:xfrm>
        </p:spPr>
        <p:txBody>
          <a:bodyPr anchor="t">
            <a:normAutofit/>
          </a:bodyPr>
          <a:lstStyle/>
          <a:p>
            <a:r>
              <a:rPr lang="en-US"/>
              <a:t>The</a:t>
            </a:r>
            <a:br>
              <a:rPr lang="en-US"/>
            </a:br>
            <a:r>
              <a:rPr lang="en-US"/>
              <a:t>Calorie</a:t>
            </a:r>
            <a:br>
              <a:rPr lang="en-US"/>
            </a:br>
            <a:r>
              <a:rPr lang="en-US"/>
              <a:t>COACH</a:t>
            </a:r>
          </a:p>
        </p:txBody>
      </p:sp>
      <p:sp>
        <p:nvSpPr>
          <p:cNvPr id="3" name="Subtitle 2">
            <a:extLst>
              <a:ext uri="{FF2B5EF4-FFF2-40B4-BE49-F238E27FC236}">
                <a16:creationId xmlns:a16="http://schemas.microsoft.com/office/drawing/2014/main" id="{9FE7171D-E986-7DBF-02B0-6BE22F5BAE7F}"/>
              </a:ext>
            </a:extLst>
          </p:cNvPr>
          <p:cNvSpPr>
            <a:spLocks noGrp="1"/>
          </p:cNvSpPr>
          <p:nvPr>
            <p:ph type="subTitle" idx="1"/>
          </p:nvPr>
        </p:nvSpPr>
        <p:spPr>
          <a:xfrm>
            <a:off x="6914322" y="4994648"/>
            <a:ext cx="4633338" cy="1111972"/>
          </a:xfrm>
        </p:spPr>
        <p:txBody>
          <a:bodyPr anchor="ctr">
            <a:normAutofit/>
          </a:bodyPr>
          <a:lstStyle/>
          <a:p>
            <a:r>
              <a:rPr lang="en-US"/>
              <a:t>Innovative mobile technology that analyzing diet instantly and accurately in Real Time</a:t>
            </a:r>
          </a:p>
        </p:txBody>
      </p:sp>
      <p:sp>
        <p:nvSpPr>
          <p:cNvPr id="4" name="Footer Placeholder 3">
            <a:extLst>
              <a:ext uri="{FF2B5EF4-FFF2-40B4-BE49-F238E27FC236}">
                <a16:creationId xmlns:a16="http://schemas.microsoft.com/office/drawing/2014/main" id="{38A3E687-16CA-1AF9-671B-F4A16D461F86}"/>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Footer Text</a:t>
            </a:r>
          </a:p>
        </p:txBody>
      </p:sp>
      <p:sp>
        <p:nvSpPr>
          <p:cNvPr id="6" name="Date Placeholder 5">
            <a:extLst>
              <a:ext uri="{FF2B5EF4-FFF2-40B4-BE49-F238E27FC236}">
                <a16:creationId xmlns:a16="http://schemas.microsoft.com/office/drawing/2014/main" id="{B333B3E5-6837-4E46-A153-46B007E83CFD}"/>
              </a:ext>
            </a:extLst>
          </p:cNvPr>
          <p:cNvSpPr>
            <a:spLocks noGrp="1"/>
          </p:cNvSpPr>
          <p:nvPr>
            <p:ph type="dt" sz="half" idx="10"/>
          </p:nvPr>
        </p:nvSpPr>
        <p:spPr>
          <a:xfrm>
            <a:off x="6914323" y="207982"/>
            <a:ext cx="2687062"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BB990B4B-F769-FD8C-F3DF-EA4628BC40F8}"/>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Tree>
    <p:extLst>
      <p:ext uri="{BB962C8B-B14F-4D97-AF65-F5344CB8AC3E}">
        <p14:creationId xmlns:p14="http://schemas.microsoft.com/office/powerpoint/2010/main" val="3839020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4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400"/>
                                        <p:tgtEl>
                                          <p:spTgt spid="3">
                                            <p:txEl>
                                              <p:pRg st="0" end="0"/>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3"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78FFF-2153-07F8-F96B-3070BE93844C}"/>
              </a:ext>
            </a:extLst>
          </p:cNvPr>
          <p:cNvSpPr>
            <a:spLocks noGrp="1"/>
          </p:cNvSpPr>
          <p:nvPr>
            <p:ph type="title"/>
          </p:nvPr>
        </p:nvSpPr>
        <p:spPr>
          <a:xfrm>
            <a:off x="64008" y="1435608"/>
            <a:ext cx="11594592" cy="5559552"/>
          </a:xfrm>
        </p:spPr>
        <p:txBody>
          <a:bodyPr anchor="b">
            <a:normAutofit/>
          </a:bodyPr>
          <a:lstStyle/>
          <a:p>
            <a:r>
              <a:rPr lang="en-US"/>
              <a:t>Introduction</a:t>
            </a:r>
          </a:p>
        </p:txBody>
      </p:sp>
      <p:sp>
        <p:nvSpPr>
          <p:cNvPr id="4" name="Footer Placeholder 3">
            <a:extLst>
              <a:ext uri="{FF2B5EF4-FFF2-40B4-BE49-F238E27FC236}">
                <a16:creationId xmlns:a16="http://schemas.microsoft.com/office/drawing/2014/main" id="{A93987F7-C794-96E4-F802-AFD5DDC684AC}"/>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a:t>THE CALORIE COACH</a:t>
            </a:r>
          </a:p>
        </p:txBody>
      </p:sp>
      <p:sp>
        <p:nvSpPr>
          <p:cNvPr id="6" name="Date Placeholder 5">
            <a:extLst>
              <a:ext uri="{FF2B5EF4-FFF2-40B4-BE49-F238E27FC236}">
                <a16:creationId xmlns:a16="http://schemas.microsoft.com/office/drawing/2014/main" id="{10AC4445-549E-2B6C-F2AC-4680092DA85D}"/>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89A416AC-B272-7068-74A5-05998CE75B45}"/>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Tree>
    <p:extLst>
      <p:ext uri="{BB962C8B-B14F-4D97-AF65-F5344CB8AC3E}">
        <p14:creationId xmlns:p14="http://schemas.microsoft.com/office/powerpoint/2010/main" val="1577217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A629-FFF2-F96D-50B1-27CE5133E6C0}"/>
              </a:ext>
            </a:extLst>
          </p:cNvPr>
          <p:cNvSpPr>
            <a:spLocks noGrp="1"/>
          </p:cNvSpPr>
          <p:nvPr>
            <p:ph type="title"/>
          </p:nvPr>
        </p:nvSpPr>
        <p:spPr>
          <a:xfrm>
            <a:off x="320558" y="612648"/>
            <a:ext cx="7015483" cy="1033272"/>
          </a:xfrm>
        </p:spPr>
        <p:txBody>
          <a:bodyPr anchor="b">
            <a:normAutofit/>
          </a:bodyPr>
          <a:lstStyle/>
          <a:p>
            <a:r>
              <a:rPr lang="en-US"/>
              <a:t>Introducing a Mobile AI Agent for Real-Time Nutritional Analysis</a:t>
            </a:r>
          </a:p>
        </p:txBody>
      </p:sp>
      <p:sp>
        <p:nvSpPr>
          <p:cNvPr id="3" name="Footer Placeholder 2">
            <a:extLst>
              <a:ext uri="{FF2B5EF4-FFF2-40B4-BE49-F238E27FC236}">
                <a16:creationId xmlns:a16="http://schemas.microsoft.com/office/drawing/2014/main" id="{770B460C-DA10-FED1-89D3-0C2E3D506928}"/>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a:solidFill>
                <a:schemeClr val="tx1"/>
              </a:solidFill>
            </a:endParaRPr>
          </a:p>
          <a:p>
            <a:pPr>
              <a:spcAft>
                <a:spcPts val="600"/>
              </a:spcAft>
            </a:pPr>
            <a:endParaRPr lang="en-US">
              <a:solidFill>
                <a:schemeClr val="tx1"/>
              </a:solidFill>
            </a:endParaRPr>
          </a:p>
        </p:txBody>
      </p:sp>
      <p:sp>
        <p:nvSpPr>
          <p:cNvPr id="4" name="Date Placeholder 3">
            <a:extLst>
              <a:ext uri="{FF2B5EF4-FFF2-40B4-BE49-F238E27FC236}">
                <a16:creationId xmlns:a16="http://schemas.microsoft.com/office/drawing/2014/main" id="{B7ACC7C9-3822-C9B2-740E-3FA5C5881135}"/>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DE09BE55-DCB9-3E74-985B-D0DDCC4BEF1A}"/>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71A0826F-6FA4-B192-7E23-42F6407E647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a:t>Automated Food Recognition</a:t>
            </a:r>
          </a:p>
          <a:p>
            <a:pPr marL="0" lvl="1" indent="0">
              <a:buFont typeface="Arial" panose="020B0604020202020204" pitchFamily="34" charset="0"/>
              <a:buNone/>
            </a:pPr>
            <a:r>
              <a:rPr lang="en-US" sz="1400"/>
              <a:t>The AI agent uses advanced </a:t>
            </a:r>
            <a:r>
              <a:rPr lang="en-US" sz="1400" b="1"/>
              <a:t>image recognition</a:t>
            </a:r>
            <a:r>
              <a:rPr lang="en-US" sz="1400"/>
              <a:t> to identify food items accurately from meal photos in real-time.</a:t>
            </a:r>
          </a:p>
          <a:p>
            <a:pPr marL="0" indent="0">
              <a:spcBef>
                <a:spcPts val="2500"/>
              </a:spcBef>
              <a:buFont typeface="Arial" panose="020B0604020202020204" pitchFamily="34" charset="0"/>
              <a:buNone/>
            </a:pPr>
            <a:r>
              <a:rPr lang="en-US" sz="1400" b="1"/>
              <a:t>Real-Time Nutritional Estimation</a:t>
            </a:r>
          </a:p>
          <a:p>
            <a:pPr marL="0" lvl="1" indent="0">
              <a:buFont typeface="Arial" panose="020B0604020202020204" pitchFamily="34" charset="0"/>
              <a:buNone/>
            </a:pPr>
            <a:r>
              <a:rPr lang="en-US" sz="1400"/>
              <a:t>It estimates </a:t>
            </a:r>
            <a:r>
              <a:rPr lang="en-US" sz="1400" b="1"/>
              <a:t>nutritional content instantly</a:t>
            </a:r>
            <a:r>
              <a:rPr lang="en-US" sz="1400"/>
              <a:t>, enabling users to </a:t>
            </a:r>
            <a:r>
              <a:rPr lang="en-US" sz="1400" b="1"/>
              <a:t>track dietary intake</a:t>
            </a:r>
            <a:r>
              <a:rPr lang="en-US" sz="1400"/>
              <a:t> effortlessly and accurately.</a:t>
            </a:r>
          </a:p>
          <a:p>
            <a:pPr marL="0" indent="0">
              <a:spcBef>
                <a:spcPts val="2500"/>
              </a:spcBef>
              <a:buFont typeface="Arial" panose="020B0604020202020204" pitchFamily="34" charset="0"/>
              <a:buNone/>
            </a:pPr>
            <a:r>
              <a:rPr lang="en-US" sz="1400" b="1"/>
              <a:t>Personalized Dietary Feedback</a:t>
            </a:r>
          </a:p>
          <a:p>
            <a:pPr marL="0" lvl="1" indent="0">
              <a:buFont typeface="Arial" panose="020B0604020202020204" pitchFamily="34" charset="0"/>
              <a:buNone/>
            </a:pPr>
            <a:r>
              <a:rPr lang="en-US" sz="1400"/>
              <a:t>The system provides customized recommendations to </a:t>
            </a:r>
            <a:r>
              <a:rPr lang="en-US" sz="1400" b="1"/>
              <a:t>promote healthier eating habits</a:t>
            </a:r>
            <a:r>
              <a:rPr lang="en-US" sz="1400"/>
              <a:t> based on individual nutritional data.</a:t>
            </a:r>
          </a:p>
          <a:p>
            <a:pPr marL="0" indent="0">
              <a:spcBef>
                <a:spcPts val="2500"/>
              </a:spcBef>
              <a:buFont typeface="Arial" panose="020B0604020202020204" pitchFamily="34" charset="0"/>
              <a:buNone/>
            </a:pPr>
            <a:r>
              <a:rPr lang="en-US" sz="1400" b="1"/>
              <a:t>Enhanced User Convenience</a:t>
            </a:r>
          </a:p>
          <a:p>
            <a:pPr marL="0" lvl="1" indent="0">
              <a:buFont typeface="Arial" panose="020B0604020202020204" pitchFamily="34" charset="0"/>
              <a:buNone/>
            </a:pPr>
            <a:r>
              <a:rPr lang="en-US" sz="1400"/>
              <a:t>This AI-powered tool simplifies </a:t>
            </a:r>
            <a:r>
              <a:rPr lang="en-US" sz="1400" b="1"/>
              <a:t>food logging, saving time</a:t>
            </a:r>
            <a:r>
              <a:rPr lang="en-US" sz="1400"/>
              <a:t> while improving accuracy and user experience.</a:t>
            </a:r>
          </a:p>
        </p:txBody>
      </p:sp>
      <p:pic>
        <p:nvPicPr>
          <p:cNvPr id="8" name="Content Placeholder 7" descr="Close up photo of a smartphone in hand with the open application for recognizing vegetables and fruit. An unrecognizable woman is scanning beans on the market with the phone app, which shows the nutritional value, health benefits, and meal recipes.">
            <a:extLst>
              <a:ext uri="{FF2B5EF4-FFF2-40B4-BE49-F238E27FC236}">
                <a16:creationId xmlns:a16="http://schemas.microsoft.com/office/drawing/2014/main" id="{697DED55-5519-4F85-B5E4-B04046D20742}"/>
              </a:ext>
            </a:extLst>
          </p:cNvPr>
          <p:cNvPicPr>
            <a:picLocks noGrp="1" noChangeAspect="1"/>
          </p:cNvPicPr>
          <p:nvPr>
            <p:ph type="pic" sz="quarter" idx="13"/>
          </p:nvPr>
        </p:nvPicPr>
        <p:blipFill>
          <a:blip r:embed="rId3"/>
          <a:srcRect l="35844" r="21162" b="-1"/>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29500815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236DA-0CED-71B8-A545-9560289DFE7A}"/>
              </a:ext>
            </a:extLst>
          </p:cNvPr>
          <p:cNvSpPr>
            <a:spLocks noGrp="1"/>
          </p:cNvSpPr>
          <p:nvPr>
            <p:ph type="title"/>
          </p:nvPr>
        </p:nvSpPr>
        <p:spPr>
          <a:xfrm>
            <a:off x="64008" y="1435608"/>
            <a:ext cx="11594592" cy="5559552"/>
          </a:xfrm>
        </p:spPr>
        <p:txBody>
          <a:bodyPr anchor="b">
            <a:normAutofit/>
          </a:bodyPr>
          <a:lstStyle/>
          <a:p>
            <a:r>
              <a:rPr lang="en-US"/>
              <a:t>Problem Statement</a:t>
            </a:r>
          </a:p>
        </p:txBody>
      </p:sp>
      <p:sp>
        <p:nvSpPr>
          <p:cNvPr id="4" name="Footer Placeholder 3">
            <a:extLst>
              <a:ext uri="{FF2B5EF4-FFF2-40B4-BE49-F238E27FC236}">
                <a16:creationId xmlns:a16="http://schemas.microsoft.com/office/drawing/2014/main" id="{2454BCF2-B72E-5FDD-78AA-1482E50FBB39}"/>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a:p>
            <a:pPr>
              <a:spcAft>
                <a:spcPts val="600"/>
              </a:spcAft>
            </a:pPr>
            <a:endParaRPr lang="en-US"/>
          </a:p>
        </p:txBody>
      </p:sp>
      <p:sp>
        <p:nvSpPr>
          <p:cNvPr id="6" name="Date Placeholder 5">
            <a:extLst>
              <a:ext uri="{FF2B5EF4-FFF2-40B4-BE49-F238E27FC236}">
                <a16:creationId xmlns:a16="http://schemas.microsoft.com/office/drawing/2014/main" id="{0E396626-14F3-FF49-C5A6-A773FFC3816D}"/>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BC81E8C6-0FB0-2611-2FFF-78063709D892}"/>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4</a:t>
            </a:fld>
            <a:endParaRPr lang="en-US"/>
          </a:p>
        </p:txBody>
      </p:sp>
    </p:spTree>
    <p:extLst>
      <p:ext uri="{BB962C8B-B14F-4D97-AF65-F5344CB8AC3E}">
        <p14:creationId xmlns:p14="http://schemas.microsoft.com/office/powerpoint/2010/main" val="308949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6F56-5A9B-F1B2-1245-C56DA1D0F750}"/>
              </a:ext>
            </a:extLst>
          </p:cNvPr>
          <p:cNvSpPr>
            <a:spLocks noGrp="1"/>
          </p:cNvSpPr>
          <p:nvPr>
            <p:ph type="title"/>
          </p:nvPr>
        </p:nvSpPr>
        <p:spPr>
          <a:xfrm>
            <a:off x="7670308" y="853949"/>
            <a:ext cx="4102574" cy="1516070"/>
          </a:xfrm>
        </p:spPr>
        <p:txBody>
          <a:bodyPr anchor="t">
            <a:normAutofit/>
          </a:bodyPr>
          <a:lstStyle/>
          <a:p>
            <a:r>
              <a:rPr lang="en-US"/>
              <a:t>Challenges in Manual Food Logging</a:t>
            </a:r>
          </a:p>
        </p:txBody>
      </p:sp>
      <p:pic>
        <p:nvPicPr>
          <p:cNvPr id="8" name="Content Placeholder 7" descr="Looking for recipes online">
            <a:extLst>
              <a:ext uri="{FF2B5EF4-FFF2-40B4-BE49-F238E27FC236}">
                <a16:creationId xmlns:a16="http://schemas.microsoft.com/office/drawing/2014/main" id="{34E1E5CB-11FF-4947-829F-545B3011AB5B}"/>
              </a:ext>
            </a:extLst>
          </p:cNvPr>
          <p:cNvPicPr>
            <a:picLocks noGrp="1" noChangeAspect="1"/>
          </p:cNvPicPr>
          <p:nvPr>
            <p:ph type="pic" sz="quarter" idx="13"/>
          </p:nvPr>
        </p:nvPicPr>
        <p:blipFill>
          <a:blip r:embed="rId3"/>
          <a:srcRect l="29085" r="-1" b="-1"/>
          <a:stretch>
            <a:fillRect/>
          </a:stretch>
        </p:blipFill>
        <p:spPr>
          <a:xfrm>
            <a:off x="1" y="10"/>
            <a:ext cx="7285976" cy="6857990"/>
          </a:xfrm>
          <a:prstGeom prst="rect">
            <a:avLst/>
          </a:prstGeom>
          <a:noFill/>
        </p:spPr>
      </p:pic>
      <p:sp>
        <p:nvSpPr>
          <p:cNvPr id="3" name="Footer Placeholder 2">
            <a:extLst>
              <a:ext uri="{FF2B5EF4-FFF2-40B4-BE49-F238E27FC236}">
                <a16:creationId xmlns:a16="http://schemas.microsoft.com/office/drawing/2014/main" id="{098C4AB6-0132-FC3C-07D6-58264A66085C}"/>
              </a:ext>
            </a:extLst>
          </p:cNvPr>
          <p:cNvSpPr>
            <a:spLocks noGrp="1"/>
          </p:cNvSpPr>
          <p:nvPr>
            <p:ph type="ftr" sz="quarter" idx="11"/>
          </p:nvPr>
        </p:nvSpPr>
        <p:spPr>
          <a:xfrm>
            <a:off x="7670308" y="213482"/>
            <a:ext cx="2129674" cy="411480"/>
          </a:xfrm>
        </p:spPr>
        <p:txBody>
          <a:bodyPr anchor="ctr">
            <a:normAutofit/>
          </a:bodyPr>
          <a:lstStyle/>
          <a:p>
            <a:r>
              <a:rPr lang="en-US" sz="900">
                <a:solidFill>
                  <a:schemeClr val="tx1"/>
                </a:solidFill>
              </a:rPr>
              <a:t>THE CALORIE COACH</a:t>
            </a:r>
            <a:endParaRPr lang="en-US" sz="900" b="0">
              <a:solidFill>
                <a:schemeClr val="tx1"/>
              </a:solidFill>
            </a:endParaRPr>
          </a:p>
        </p:txBody>
      </p:sp>
      <p:sp>
        <p:nvSpPr>
          <p:cNvPr id="4" name="Date Placeholder 3">
            <a:extLst>
              <a:ext uri="{FF2B5EF4-FFF2-40B4-BE49-F238E27FC236}">
                <a16:creationId xmlns:a16="http://schemas.microsoft.com/office/drawing/2014/main" id="{E15D1BED-7806-88ED-F8AC-05068BEBB2EB}"/>
              </a:ext>
            </a:extLst>
          </p:cNvPr>
          <p:cNvSpPr>
            <a:spLocks noGrp="1"/>
          </p:cNvSpPr>
          <p:nvPr>
            <p:ph type="dt" sz="half" idx="10"/>
          </p:nvPr>
        </p:nvSpPr>
        <p:spPr>
          <a:xfrm>
            <a:off x="9930367" y="210312"/>
            <a:ext cx="1216834" cy="41148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628354B4-0B15-DE89-18A6-AA69EF3D5EAC}"/>
              </a:ext>
            </a:extLst>
          </p:cNvPr>
          <p:cNvSpPr>
            <a:spLocks noGrp="1"/>
          </p:cNvSpPr>
          <p:nvPr>
            <p:ph type="sldNum" sz="quarter" idx="12"/>
          </p:nvPr>
        </p:nvSpPr>
        <p:spPr>
          <a:xfrm>
            <a:off x="11226453" y="210312"/>
            <a:ext cx="679998"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0E8AD7C7-4C18-9344-0B6E-906AA8CE647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70308" y="2578607"/>
            <a:ext cx="4102585" cy="3950208"/>
          </a:xfrm>
        </p:spPr>
        <p:txBody>
          <a:bodyPr>
            <a:normAutofit/>
          </a:bodyPr>
          <a:lstStyle/>
          <a:p>
            <a:pPr marL="0" indent="0">
              <a:lnSpc>
                <a:spcPct val="110000"/>
              </a:lnSpc>
              <a:spcBef>
                <a:spcPts val="2500"/>
              </a:spcBef>
              <a:buFont typeface="Arial" panose="020B0604020202020204" pitchFamily="34" charset="0"/>
              <a:buNone/>
            </a:pPr>
            <a:r>
              <a:rPr lang="en-US" sz="1400" b="1"/>
              <a:t>Time-Consuming Input</a:t>
            </a:r>
          </a:p>
          <a:p>
            <a:pPr marL="0" lvl="1" indent="0">
              <a:lnSpc>
                <a:spcPct val="110000"/>
              </a:lnSpc>
              <a:buFont typeface="Arial" panose="020B0604020202020204" pitchFamily="34" charset="0"/>
              <a:buNone/>
            </a:pPr>
            <a:r>
              <a:rPr lang="en-US" sz="1400"/>
              <a:t>Manual logging requires searching, estimating, and inputting food data, making the process slow and tedious.</a:t>
            </a:r>
          </a:p>
          <a:p>
            <a:pPr marL="0" indent="0">
              <a:lnSpc>
                <a:spcPct val="110000"/>
              </a:lnSpc>
              <a:spcBef>
                <a:spcPts val="2500"/>
              </a:spcBef>
              <a:buFont typeface="Arial" panose="020B0604020202020204" pitchFamily="34" charset="0"/>
              <a:buNone/>
            </a:pPr>
            <a:r>
              <a:rPr lang="en-US" sz="1400" b="1"/>
              <a:t>Inaccuracy in Nutritional Estimation</a:t>
            </a:r>
          </a:p>
          <a:p>
            <a:pPr marL="0" lvl="1" indent="0">
              <a:lnSpc>
                <a:spcPct val="110000"/>
              </a:lnSpc>
              <a:buFont typeface="Arial" panose="020B0604020202020204" pitchFamily="34" charset="0"/>
              <a:buNone/>
            </a:pPr>
            <a:r>
              <a:rPr lang="en-US" sz="1400"/>
              <a:t>Users often misjudge calories and nutrients, especially with complex or unfamiliar meals, reducing tracking accuracy.</a:t>
            </a:r>
          </a:p>
          <a:p>
            <a:pPr marL="0" indent="0">
              <a:lnSpc>
                <a:spcPct val="110000"/>
              </a:lnSpc>
              <a:spcBef>
                <a:spcPts val="2500"/>
              </a:spcBef>
              <a:buFont typeface="Arial" panose="020B0604020202020204" pitchFamily="34" charset="0"/>
              <a:buNone/>
            </a:pPr>
            <a:r>
              <a:rPr lang="en-US" sz="1400" b="1"/>
              <a:t>Lack of Real-Time Feedback</a:t>
            </a:r>
          </a:p>
          <a:p>
            <a:pPr marL="0" lvl="1" indent="0">
              <a:lnSpc>
                <a:spcPct val="110000"/>
              </a:lnSpc>
              <a:buFont typeface="Arial" panose="020B0604020202020204" pitchFamily="34" charset="0"/>
              <a:buNone/>
            </a:pPr>
            <a:r>
              <a:rPr lang="en-US" sz="1400"/>
              <a:t>Most tools do not provide personalized, instant dietary advice, limiting guidance toward healthier decisions.</a:t>
            </a:r>
          </a:p>
        </p:txBody>
      </p:sp>
    </p:spTree>
    <p:extLst>
      <p:ext uri="{BB962C8B-B14F-4D97-AF65-F5344CB8AC3E}">
        <p14:creationId xmlns:p14="http://schemas.microsoft.com/office/powerpoint/2010/main" val="3899134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B899-BA03-0438-9470-2B4BA560042C}"/>
              </a:ext>
            </a:extLst>
          </p:cNvPr>
          <p:cNvSpPr>
            <a:spLocks noGrp="1"/>
          </p:cNvSpPr>
          <p:nvPr>
            <p:ph type="title"/>
          </p:nvPr>
        </p:nvSpPr>
        <p:spPr>
          <a:xfrm>
            <a:off x="64008" y="1435608"/>
            <a:ext cx="11594592" cy="5559552"/>
          </a:xfrm>
        </p:spPr>
        <p:txBody>
          <a:bodyPr anchor="b">
            <a:normAutofit/>
          </a:bodyPr>
          <a:lstStyle/>
          <a:p>
            <a:r>
              <a:rPr lang="en-US"/>
              <a:t>Solution Overview</a:t>
            </a:r>
          </a:p>
        </p:txBody>
      </p:sp>
      <p:sp>
        <p:nvSpPr>
          <p:cNvPr id="4" name="Footer Placeholder 3">
            <a:extLst>
              <a:ext uri="{FF2B5EF4-FFF2-40B4-BE49-F238E27FC236}">
                <a16:creationId xmlns:a16="http://schemas.microsoft.com/office/drawing/2014/main" id="{40681B0F-A895-F848-96A4-96D9425D6532}"/>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ED8A2932-578F-06EA-8067-2520AF735666}"/>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A14A7042-4B4C-0526-6A09-329E87D5FD50}"/>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spTree>
    <p:extLst>
      <p:ext uri="{BB962C8B-B14F-4D97-AF65-F5344CB8AC3E}">
        <p14:creationId xmlns:p14="http://schemas.microsoft.com/office/powerpoint/2010/main" val="994841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FC2F5-A478-A9F1-2745-11E381315D09}"/>
              </a:ext>
            </a:extLst>
          </p:cNvPr>
          <p:cNvSpPr>
            <a:spLocks noGrp="1"/>
          </p:cNvSpPr>
          <p:nvPr>
            <p:ph type="title"/>
          </p:nvPr>
        </p:nvSpPr>
        <p:spPr>
          <a:xfrm>
            <a:off x="320558" y="612648"/>
            <a:ext cx="7015483" cy="1033272"/>
          </a:xfrm>
        </p:spPr>
        <p:txBody>
          <a:bodyPr anchor="b">
            <a:normAutofit/>
          </a:bodyPr>
          <a:lstStyle/>
          <a:p>
            <a:r>
              <a:rPr lang="en-US"/>
              <a:t>Capabilities of the Mobile AI Agent</a:t>
            </a:r>
          </a:p>
        </p:txBody>
      </p:sp>
      <p:sp>
        <p:nvSpPr>
          <p:cNvPr id="3" name="Footer Placeholder 2">
            <a:extLst>
              <a:ext uri="{FF2B5EF4-FFF2-40B4-BE49-F238E27FC236}">
                <a16:creationId xmlns:a16="http://schemas.microsoft.com/office/drawing/2014/main" id="{32757110-6BB3-9CA0-81A6-DF39D0014026}"/>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err="1">
              <a:solidFill>
                <a:schemeClr val="tx1"/>
              </a:solidFill>
            </a:endParaRPr>
          </a:p>
        </p:txBody>
      </p:sp>
      <p:sp>
        <p:nvSpPr>
          <p:cNvPr id="4" name="Date Placeholder 3">
            <a:extLst>
              <a:ext uri="{FF2B5EF4-FFF2-40B4-BE49-F238E27FC236}">
                <a16:creationId xmlns:a16="http://schemas.microsoft.com/office/drawing/2014/main" id="{4B10599F-D700-E0DD-5E95-7FBDBA1FCFBF}"/>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D8B2DD5E-8D17-7887-9AA0-50F2244A24B8}"/>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89E853F4-0B8E-2B07-3674-F33E08081C9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a:t>Food Recognition Technology</a:t>
            </a:r>
          </a:p>
          <a:p>
            <a:pPr marL="0" lvl="1" indent="0">
              <a:buNone/>
            </a:pPr>
            <a:r>
              <a:rPr lang="en-US" sz="1400"/>
              <a:t>The AI agent uses advanced image recognition models like </a:t>
            </a:r>
            <a:r>
              <a:rPr lang="en-US" sz="1400" b="1">
                <a:ea typeface="+mn-lt"/>
                <a:cs typeface="+mn-lt"/>
              </a:rPr>
              <a:t>Efficient Net B0, ResNet50, YOLO11, MobileNet,VGG16</a:t>
            </a:r>
            <a:r>
              <a:rPr lang="en-US" sz="1400"/>
              <a:t> to identify food items from photos accurately.</a:t>
            </a:r>
            <a:endParaRPr lang="en-US"/>
          </a:p>
          <a:p>
            <a:pPr marL="0" indent="0">
              <a:spcBef>
                <a:spcPts val="2500"/>
              </a:spcBef>
              <a:buFont typeface="Arial" panose="020B0604020202020204" pitchFamily="34" charset="0"/>
              <a:buNone/>
            </a:pPr>
            <a:r>
              <a:rPr lang="en-US" sz="1400" b="1"/>
              <a:t>Nutritional Analysis</a:t>
            </a:r>
          </a:p>
          <a:p>
            <a:pPr marL="0" lvl="1" indent="0">
              <a:buNone/>
            </a:pPr>
            <a:r>
              <a:rPr lang="en-US" sz="1400"/>
              <a:t>Calorie content and nutrition values are estimated using trusted databases such as USDA Food Data Central and Open Food Facts.</a:t>
            </a:r>
          </a:p>
          <a:p>
            <a:pPr marL="0" indent="0">
              <a:spcBef>
                <a:spcPts val="2500"/>
              </a:spcBef>
              <a:buFont typeface="Arial" panose="020B0604020202020204" pitchFamily="34" charset="0"/>
              <a:buNone/>
            </a:pPr>
            <a:r>
              <a:rPr lang="en-US" sz="1400" b="1"/>
              <a:t>Conversational AI Integration</a:t>
            </a:r>
          </a:p>
          <a:p>
            <a:pPr marL="0" lvl="1" indent="0">
              <a:buFont typeface="Arial" panose="020B0604020202020204" pitchFamily="34" charset="0"/>
              <a:buNone/>
            </a:pPr>
            <a:r>
              <a:rPr lang="en-US" sz="1400"/>
              <a:t>GPT-4o Mini enables natural language interaction, providing personalized dietary advice and answering user queries.</a:t>
            </a:r>
          </a:p>
          <a:p>
            <a:pPr marL="0" indent="0">
              <a:spcBef>
                <a:spcPts val="2500"/>
              </a:spcBef>
              <a:buFont typeface="Arial" panose="020B0604020202020204" pitchFamily="34" charset="0"/>
              <a:buNone/>
            </a:pPr>
            <a:r>
              <a:rPr lang="en-US" sz="1400" b="1"/>
              <a:t>Automated Meal Logging</a:t>
            </a:r>
          </a:p>
          <a:p>
            <a:pPr marL="0" lvl="1" indent="0">
              <a:buFont typeface="Arial" panose="020B0604020202020204" pitchFamily="34" charset="0"/>
              <a:buNone/>
            </a:pPr>
            <a:r>
              <a:rPr lang="en-US" sz="1400"/>
              <a:t>The agent automates meal tracking and monitors user goals to support seamless and intelligent dietary management.</a:t>
            </a:r>
          </a:p>
        </p:txBody>
      </p:sp>
      <p:pic>
        <p:nvPicPr>
          <p:cNvPr id="8" name="Content Placeholder 7" descr="Healthy smoothie breakfast with granola, fruits, seeds.">
            <a:extLst>
              <a:ext uri="{FF2B5EF4-FFF2-40B4-BE49-F238E27FC236}">
                <a16:creationId xmlns:a16="http://schemas.microsoft.com/office/drawing/2014/main" id="{2CB26780-30B6-4860-BB6B-2EA42BD4B398}"/>
              </a:ext>
            </a:extLst>
          </p:cNvPr>
          <p:cNvPicPr>
            <a:picLocks noGrp="1" noChangeAspect="1"/>
          </p:cNvPicPr>
          <p:nvPr>
            <p:ph type="pic" sz="quarter" idx="13"/>
          </p:nvPr>
        </p:nvPicPr>
        <p:blipFill>
          <a:blip r:embed="rId3"/>
          <a:srcRect l="33097" r="23909" b="-1"/>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789011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509B-7B0D-4D0E-7996-AB782EDF33F3}"/>
              </a:ext>
            </a:extLst>
          </p:cNvPr>
          <p:cNvSpPr>
            <a:spLocks noGrp="1"/>
          </p:cNvSpPr>
          <p:nvPr>
            <p:ph type="title"/>
          </p:nvPr>
        </p:nvSpPr>
        <p:spPr>
          <a:xfrm>
            <a:off x="64008" y="1435608"/>
            <a:ext cx="11594592" cy="5559552"/>
          </a:xfrm>
        </p:spPr>
        <p:txBody>
          <a:bodyPr anchor="b">
            <a:normAutofit/>
          </a:bodyPr>
          <a:lstStyle/>
          <a:p>
            <a:r>
              <a:rPr lang="en-US"/>
              <a:t>Architecture</a:t>
            </a:r>
          </a:p>
        </p:txBody>
      </p:sp>
      <p:sp>
        <p:nvSpPr>
          <p:cNvPr id="4" name="Footer Placeholder 3">
            <a:extLst>
              <a:ext uri="{FF2B5EF4-FFF2-40B4-BE49-F238E27FC236}">
                <a16:creationId xmlns:a16="http://schemas.microsoft.com/office/drawing/2014/main" id="{D625765C-9346-7AA8-9E86-D44FFC51E1B5}"/>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5C317D58-8B0D-B3C3-48E2-9A00A61B651F}"/>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86BC8F40-09CC-9F48-279D-D32B86F1D1C8}"/>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spTree>
    <p:extLst>
      <p:ext uri="{BB962C8B-B14F-4D97-AF65-F5344CB8AC3E}">
        <p14:creationId xmlns:p14="http://schemas.microsoft.com/office/powerpoint/2010/main" val="1520861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B6FA-CFEE-8739-8AC5-7FC15E17EA73}"/>
              </a:ext>
            </a:extLst>
          </p:cNvPr>
          <p:cNvSpPr>
            <a:spLocks noGrp="1"/>
          </p:cNvSpPr>
          <p:nvPr>
            <p:ph type="title"/>
          </p:nvPr>
        </p:nvSpPr>
        <p:spPr>
          <a:xfrm>
            <a:off x="320558" y="612648"/>
            <a:ext cx="7015483" cy="1033272"/>
          </a:xfrm>
        </p:spPr>
        <p:txBody>
          <a:bodyPr anchor="b">
            <a:normAutofit/>
          </a:bodyPr>
          <a:lstStyle/>
          <a:p>
            <a:r>
              <a:rPr lang="en-US"/>
              <a:t>System Components and Integration</a:t>
            </a:r>
          </a:p>
        </p:txBody>
      </p:sp>
      <p:sp>
        <p:nvSpPr>
          <p:cNvPr id="3" name="Footer Placeholder 2">
            <a:extLst>
              <a:ext uri="{FF2B5EF4-FFF2-40B4-BE49-F238E27FC236}">
                <a16:creationId xmlns:a16="http://schemas.microsoft.com/office/drawing/2014/main" id="{C0614026-F2E7-5F9D-92CB-DA939456FA7A}"/>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a:solidFill>
                <a:schemeClr val="tx1"/>
              </a:solidFill>
            </a:endParaRPr>
          </a:p>
        </p:txBody>
      </p:sp>
      <p:sp>
        <p:nvSpPr>
          <p:cNvPr id="4" name="Date Placeholder 3">
            <a:extLst>
              <a:ext uri="{FF2B5EF4-FFF2-40B4-BE49-F238E27FC236}">
                <a16:creationId xmlns:a16="http://schemas.microsoft.com/office/drawing/2014/main" id="{511FDE63-8AFE-8D3B-54A4-B398D7A8E4FE}"/>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0AC11F46-3666-CC35-1DA5-31E5C51B1A06}"/>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7162F969-3CAB-0AB2-6C5B-37648980D18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a:t>Mobile App Interface</a:t>
            </a:r>
          </a:p>
          <a:p>
            <a:pPr marL="0" lvl="1" indent="0">
              <a:buFont typeface="Arial" panose="020B0604020202020204" pitchFamily="34" charset="0"/>
              <a:buNone/>
            </a:pPr>
            <a:r>
              <a:rPr lang="en-US" sz="1400"/>
              <a:t>The front-end mobile app enables users to capture meal images and receive instant nutritional feedback.</a:t>
            </a:r>
          </a:p>
          <a:p>
            <a:pPr marL="0" indent="0">
              <a:spcBef>
                <a:spcPts val="2500"/>
              </a:spcBef>
              <a:buFont typeface="Arial" panose="020B0604020202020204" pitchFamily="34" charset="0"/>
              <a:buNone/>
            </a:pPr>
            <a:r>
              <a:rPr lang="en-US" sz="1400" b="1"/>
              <a:t>Image Recognition Model</a:t>
            </a:r>
          </a:p>
          <a:p>
            <a:pPr marL="0" lvl="1" indent="0">
              <a:buNone/>
            </a:pPr>
            <a:r>
              <a:rPr lang="en-US" sz="1400"/>
              <a:t>Food items in meal images are identified using advanced image recognition models like </a:t>
            </a:r>
            <a:r>
              <a:rPr lang="en-US" sz="1400" b="1"/>
              <a:t>Efficient Net B0, ResNet50,YOLO11, MobileNet,VGG16</a:t>
            </a:r>
            <a:r>
              <a:rPr lang="en-US" sz="1400"/>
              <a:t>.</a:t>
            </a:r>
          </a:p>
          <a:p>
            <a:pPr marL="0" indent="0">
              <a:spcBef>
                <a:spcPts val="2500"/>
              </a:spcBef>
              <a:buFont typeface="Arial" panose="020B0604020202020204" pitchFamily="34" charset="0"/>
              <a:buNone/>
            </a:pPr>
            <a:r>
              <a:rPr lang="en-US" sz="1400" b="1"/>
              <a:t>Nutritional Database Mapping</a:t>
            </a:r>
          </a:p>
          <a:p>
            <a:pPr marL="0" lvl="1" indent="0">
              <a:buFont typeface="Arial" panose="020B0604020202020204" pitchFamily="34" charset="0"/>
              <a:buNone/>
            </a:pPr>
            <a:r>
              <a:rPr lang="en-US" sz="1400"/>
              <a:t>Identified food items are mapped to nutritional databases to retrieve calorie and nutrient information accurately.</a:t>
            </a:r>
          </a:p>
          <a:p>
            <a:pPr marL="0" indent="0">
              <a:spcBef>
                <a:spcPts val="2500"/>
              </a:spcBef>
              <a:buFont typeface="Arial" panose="020B0604020202020204" pitchFamily="34" charset="0"/>
              <a:buNone/>
            </a:pPr>
            <a:r>
              <a:rPr lang="en-US" sz="1400" b="1"/>
              <a:t>AI Interpretation and Workflow</a:t>
            </a:r>
          </a:p>
          <a:p>
            <a:pPr marL="0" lvl="1" indent="0">
              <a:buFont typeface="Arial" panose="020B0604020202020204" pitchFamily="34" charset="0"/>
              <a:buNone/>
            </a:pPr>
            <a:r>
              <a:rPr lang="en-US" sz="1400"/>
              <a:t>AI models interpret context, estimate portions, generate feedback, and autonomous frameworks manage workflow integration.</a:t>
            </a:r>
          </a:p>
        </p:txBody>
      </p:sp>
      <p:pic>
        <p:nvPicPr>
          <p:cNvPr id="8" name="Content Placeholder 7" descr="Taking photo of a pasta dish in a restaurant">
            <a:extLst>
              <a:ext uri="{FF2B5EF4-FFF2-40B4-BE49-F238E27FC236}">
                <a16:creationId xmlns:a16="http://schemas.microsoft.com/office/drawing/2014/main" id="{1CD29CB7-3B65-4E49-B9A7-041B967E95C0}"/>
              </a:ext>
            </a:extLst>
          </p:cNvPr>
          <p:cNvPicPr>
            <a:picLocks noGrp="1" noChangeAspect="1"/>
          </p:cNvPicPr>
          <p:nvPr>
            <p:ph type="pic" sz="quarter" idx="13"/>
          </p:nvPr>
        </p:nvPicPr>
        <p:blipFill>
          <a:blip r:embed="rId3"/>
          <a:srcRect l="12250" r="118"/>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393652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741F3-53F9-19F3-25FA-B2D1327B3E04}"/>
              </a:ext>
            </a:extLst>
          </p:cNvPr>
          <p:cNvSpPr>
            <a:spLocks noGrp="1"/>
          </p:cNvSpPr>
          <p:nvPr>
            <p:ph type="title"/>
          </p:nvPr>
        </p:nvSpPr>
        <p:spPr>
          <a:xfrm>
            <a:off x="64008" y="1435608"/>
            <a:ext cx="11594592" cy="5559552"/>
          </a:xfrm>
        </p:spPr>
        <p:txBody>
          <a:bodyPr anchor="b">
            <a:normAutofit/>
          </a:bodyPr>
          <a:lstStyle/>
          <a:p>
            <a:r>
              <a:rPr lang="en-US"/>
              <a:t>Tech Stack</a:t>
            </a:r>
          </a:p>
        </p:txBody>
      </p:sp>
      <p:sp>
        <p:nvSpPr>
          <p:cNvPr id="4" name="Footer Placeholder 3">
            <a:extLst>
              <a:ext uri="{FF2B5EF4-FFF2-40B4-BE49-F238E27FC236}">
                <a16:creationId xmlns:a16="http://schemas.microsoft.com/office/drawing/2014/main" id="{481D462B-74AF-35B3-77D7-1F2A29D6C57E}"/>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CFAFA42A-BC6B-9F48-9DCF-DCA415FAFAAA}"/>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594B499F-7B24-26B8-0B08-6BB7B4E7E151}"/>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Tree>
    <p:extLst>
      <p:ext uri="{BB962C8B-B14F-4D97-AF65-F5344CB8AC3E}">
        <p14:creationId xmlns:p14="http://schemas.microsoft.com/office/powerpoint/2010/main" val="4179901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07BF2-8B43-AEC0-6339-62605A5B0BF6}"/>
              </a:ext>
            </a:extLst>
          </p:cNvPr>
          <p:cNvSpPr>
            <a:spLocks noGrp="1"/>
          </p:cNvSpPr>
          <p:nvPr>
            <p:ph type="title"/>
          </p:nvPr>
        </p:nvSpPr>
        <p:spPr>
          <a:xfrm>
            <a:off x="320558" y="612648"/>
            <a:ext cx="7015483" cy="1033272"/>
          </a:xfrm>
        </p:spPr>
        <p:txBody>
          <a:bodyPr anchor="b">
            <a:normAutofit/>
          </a:bodyPr>
          <a:lstStyle/>
          <a:p>
            <a:r>
              <a:rPr lang="en-US"/>
              <a:t>Technologies and Tools Used</a:t>
            </a:r>
          </a:p>
        </p:txBody>
      </p:sp>
      <p:sp>
        <p:nvSpPr>
          <p:cNvPr id="3" name="Footer Placeholder 2">
            <a:extLst>
              <a:ext uri="{FF2B5EF4-FFF2-40B4-BE49-F238E27FC236}">
                <a16:creationId xmlns:a16="http://schemas.microsoft.com/office/drawing/2014/main" id="{2EB41826-A008-8192-2576-C131F1D86588}"/>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err="1">
              <a:solidFill>
                <a:schemeClr val="tx1"/>
              </a:solidFill>
            </a:endParaRPr>
          </a:p>
        </p:txBody>
      </p:sp>
      <p:sp>
        <p:nvSpPr>
          <p:cNvPr id="4" name="Date Placeholder 3">
            <a:extLst>
              <a:ext uri="{FF2B5EF4-FFF2-40B4-BE49-F238E27FC236}">
                <a16:creationId xmlns:a16="http://schemas.microsoft.com/office/drawing/2014/main" id="{902440B3-658C-812D-CA00-944F7CB29E36}"/>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1FBB2F4C-F934-E4CF-036E-57326A671ED1}"/>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sp>
        <p:nvSpPr>
          <p:cNvPr id="7" name="Content Placeholder 6">
            <a:extLst>
              <a:ext uri="{FF2B5EF4-FFF2-40B4-BE49-F238E27FC236}">
                <a16:creationId xmlns:a16="http://schemas.microsoft.com/office/drawing/2014/main" id="{BCD607B2-9EA4-C36B-CE49-9164DB4945F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400" b="1"/>
              <a:t>Image Recognition Models</a:t>
            </a:r>
          </a:p>
          <a:p>
            <a:pPr marL="0" lvl="1" indent="0">
              <a:buNone/>
            </a:pPr>
            <a:r>
              <a:rPr lang="en-US" sz="1400" b="1"/>
              <a:t>Efficient Net B0, ResNet50,YOLO11, MobileNet,VGG16</a:t>
            </a:r>
            <a:r>
              <a:rPr lang="en-US" sz="1400"/>
              <a:t> provide efficient and accurate image detection for mobile AI applications.</a:t>
            </a:r>
            <a:endParaRPr lang="en-US"/>
          </a:p>
          <a:p>
            <a:pPr marL="0" indent="0">
              <a:spcBef>
                <a:spcPts val="2500"/>
              </a:spcBef>
              <a:buFont typeface="Arial" panose="020B0604020202020204" pitchFamily="34" charset="0"/>
              <a:buNone/>
            </a:pPr>
            <a:r>
              <a:rPr lang="en-US" sz="1400" b="1"/>
              <a:t>Nutritional Data Sources</a:t>
            </a:r>
          </a:p>
          <a:p>
            <a:pPr marL="0" lvl="1" indent="0">
              <a:buFont typeface="Arial" panose="020B0604020202020204" pitchFamily="34" charset="0"/>
              <a:buNone/>
            </a:pPr>
            <a:r>
              <a:rPr lang="en-US" sz="1400"/>
              <a:t>Nutritional data is sourced from reliable databases like USDA API and Open Food Facts for accuracy.</a:t>
            </a:r>
          </a:p>
          <a:p>
            <a:pPr marL="0" indent="0">
              <a:spcBef>
                <a:spcPts val="2500"/>
              </a:spcBef>
              <a:buFont typeface="Arial" panose="020B0604020202020204" pitchFamily="34" charset="0"/>
              <a:buNone/>
            </a:pPr>
            <a:r>
              <a:rPr lang="en-US" sz="1400" b="1"/>
              <a:t>Language Model and Feedback</a:t>
            </a:r>
          </a:p>
          <a:p>
            <a:pPr marL="0" lvl="1" indent="0">
              <a:buFont typeface="Arial" panose="020B0604020202020204" pitchFamily="34" charset="0"/>
              <a:buNone/>
            </a:pPr>
            <a:r>
              <a:rPr lang="en-US" sz="1400"/>
              <a:t>GPT-4o Mini enables natural language understanding and personalized feedback in the AI agent.</a:t>
            </a:r>
          </a:p>
          <a:p>
            <a:pPr marL="0" indent="0">
              <a:spcBef>
                <a:spcPts val="2500"/>
              </a:spcBef>
              <a:buFont typeface="Arial" panose="020B0604020202020204" pitchFamily="34" charset="0"/>
              <a:buNone/>
            </a:pPr>
            <a:r>
              <a:rPr lang="en-US" sz="1400" b="1"/>
              <a:t>Development Frameworks</a:t>
            </a:r>
          </a:p>
          <a:p>
            <a:pPr marL="0" lvl="1" indent="0">
              <a:buFont typeface="Arial" panose="020B0604020202020204" pitchFamily="34" charset="0"/>
              <a:buNone/>
            </a:pPr>
            <a:r>
              <a:rPr lang="en-US" sz="1400"/>
              <a:t>Cross-platform frameworks like Flutter and React Native ensure smooth mobile app experiences.</a:t>
            </a:r>
          </a:p>
        </p:txBody>
      </p:sp>
      <p:pic>
        <p:nvPicPr>
          <p:cNvPr id="8" name="Content Placeholder 7" descr="4K Resolution">
            <a:extLst>
              <a:ext uri="{FF2B5EF4-FFF2-40B4-BE49-F238E27FC236}">
                <a16:creationId xmlns:a16="http://schemas.microsoft.com/office/drawing/2014/main" id="{9F3C6430-8F0A-4E38-940B-1B474FC45398}"/>
              </a:ext>
            </a:extLst>
          </p:cNvPr>
          <p:cNvPicPr>
            <a:picLocks noGrp="1" noChangeAspect="1"/>
          </p:cNvPicPr>
          <p:nvPr>
            <p:ph type="pic" sz="quarter" idx="13"/>
          </p:nvPr>
        </p:nvPicPr>
        <p:blipFill>
          <a:blip r:embed="rId3"/>
          <a:srcRect l="32453" r="31316"/>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1471230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862F-DE2D-F247-1721-B2518A411841}"/>
              </a:ext>
            </a:extLst>
          </p:cNvPr>
          <p:cNvSpPr>
            <a:spLocks noGrp="1"/>
          </p:cNvSpPr>
          <p:nvPr>
            <p:ph type="title"/>
          </p:nvPr>
        </p:nvSpPr>
        <p:spPr>
          <a:xfrm>
            <a:off x="64008" y="1435608"/>
            <a:ext cx="11594592" cy="5559552"/>
          </a:xfrm>
        </p:spPr>
        <p:txBody>
          <a:bodyPr anchor="b">
            <a:normAutofit/>
          </a:bodyPr>
          <a:lstStyle/>
          <a:p>
            <a:r>
              <a:rPr lang="en-US"/>
              <a:t>Workflow</a:t>
            </a:r>
          </a:p>
        </p:txBody>
      </p:sp>
      <p:sp>
        <p:nvSpPr>
          <p:cNvPr id="4" name="Footer Placeholder 3">
            <a:extLst>
              <a:ext uri="{FF2B5EF4-FFF2-40B4-BE49-F238E27FC236}">
                <a16:creationId xmlns:a16="http://schemas.microsoft.com/office/drawing/2014/main" id="{B961826A-D9C7-2D2D-852C-982A4B070EC2}"/>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2B011CF7-B242-5F10-2103-5E503A129723}"/>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7B20DFCD-4FD1-DF03-5848-196C970F350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spTree>
    <p:extLst>
      <p:ext uri="{BB962C8B-B14F-4D97-AF65-F5344CB8AC3E}">
        <p14:creationId xmlns:p14="http://schemas.microsoft.com/office/powerpoint/2010/main" val="31649003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A3B60-F52A-32D6-F755-1F0A406554CC}"/>
              </a:ext>
            </a:extLst>
          </p:cNvPr>
          <p:cNvSpPr>
            <a:spLocks noGrp="1"/>
          </p:cNvSpPr>
          <p:nvPr>
            <p:ph type="title"/>
          </p:nvPr>
        </p:nvSpPr>
        <p:spPr>
          <a:xfrm>
            <a:off x="320558" y="612648"/>
            <a:ext cx="7015483" cy="1033272"/>
          </a:xfrm>
        </p:spPr>
        <p:txBody>
          <a:bodyPr anchor="b">
            <a:normAutofit/>
          </a:bodyPr>
          <a:lstStyle/>
          <a:p>
            <a:r>
              <a:rPr lang="en-US"/>
              <a:t>Step-by-Step User Interaction</a:t>
            </a:r>
          </a:p>
        </p:txBody>
      </p:sp>
      <p:sp>
        <p:nvSpPr>
          <p:cNvPr id="3" name="Footer Placeholder 2">
            <a:extLst>
              <a:ext uri="{FF2B5EF4-FFF2-40B4-BE49-F238E27FC236}">
                <a16:creationId xmlns:a16="http://schemas.microsoft.com/office/drawing/2014/main" id="{2EDB82A0-F4B0-CBDE-6553-29A5EF167A0C}"/>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a:solidFill>
                <a:schemeClr val="tx1"/>
              </a:solidFill>
            </a:endParaRPr>
          </a:p>
        </p:txBody>
      </p:sp>
      <p:sp>
        <p:nvSpPr>
          <p:cNvPr id="4" name="Date Placeholder 3">
            <a:extLst>
              <a:ext uri="{FF2B5EF4-FFF2-40B4-BE49-F238E27FC236}">
                <a16:creationId xmlns:a16="http://schemas.microsoft.com/office/drawing/2014/main" id="{BF379471-364A-9273-9E98-A1FA90C72875}"/>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805475F0-8C8A-6F3D-7A2D-FEAA81E4F51A}"/>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AE6E73E7-6D41-3450-C915-0A6E473910A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Image Capture and Analysis</a:t>
            </a:r>
          </a:p>
          <a:p>
            <a:pPr marL="0" lvl="1" indent="0">
              <a:buFont typeface="Arial" panose="020B0604020202020204" pitchFamily="34" charset="0"/>
              <a:buNone/>
            </a:pPr>
            <a:r>
              <a:rPr lang="en-US" sz="1400"/>
              <a:t>Users start by taking a photo of their meal, which is analyzed by AI vision models to identify food items accurately.</a:t>
            </a:r>
          </a:p>
          <a:p>
            <a:pPr marL="0" indent="0">
              <a:spcBef>
                <a:spcPts val="2500"/>
              </a:spcBef>
              <a:buFont typeface="Arial" panose="020B0604020202020204" pitchFamily="34" charset="0"/>
              <a:buNone/>
            </a:pPr>
            <a:r>
              <a:rPr lang="en-US" sz="1400" b="1"/>
              <a:t>Portion Estimation and Data Retrieval</a:t>
            </a:r>
          </a:p>
          <a:p>
            <a:pPr marL="0" lvl="1" indent="0">
              <a:buFont typeface="Arial" panose="020B0604020202020204" pitchFamily="34" charset="0"/>
              <a:buNone/>
            </a:pPr>
            <a:r>
              <a:rPr lang="en-US" sz="1400"/>
              <a:t>The system estimates portion sizes and accesses nutritional databases like USDA to gather relevant food data.</a:t>
            </a:r>
          </a:p>
          <a:p>
            <a:pPr marL="0" indent="0">
              <a:spcBef>
                <a:spcPts val="2500"/>
              </a:spcBef>
              <a:buFont typeface="Arial" panose="020B0604020202020204" pitchFamily="34" charset="0"/>
              <a:buNone/>
            </a:pPr>
            <a:r>
              <a:rPr lang="en-US" sz="1400" b="1"/>
              <a:t>Context Interpretation and Feedback</a:t>
            </a:r>
          </a:p>
          <a:p>
            <a:pPr marL="0" lvl="1" indent="0">
              <a:buFont typeface="Arial" panose="020B0604020202020204" pitchFamily="34" charset="0"/>
              <a:buNone/>
            </a:pPr>
            <a:r>
              <a:rPr lang="en-US" sz="1400"/>
              <a:t>GPT-4o Mini interprets context and provides personalized dietary feedback based on user goals and preferences.</a:t>
            </a:r>
          </a:p>
          <a:p>
            <a:pPr marL="0" indent="0">
              <a:spcBef>
                <a:spcPts val="2500"/>
              </a:spcBef>
              <a:buFont typeface="Arial" panose="020B0604020202020204" pitchFamily="34" charset="0"/>
              <a:buNone/>
            </a:pPr>
            <a:r>
              <a:rPr lang="en-US" sz="1400" b="1"/>
              <a:t>Meal Logging and Suggestions</a:t>
            </a:r>
          </a:p>
          <a:p>
            <a:pPr marL="0" lvl="1" indent="0">
              <a:buFont typeface="Arial" panose="020B0604020202020204" pitchFamily="34" charset="0"/>
              <a:buNone/>
            </a:pPr>
            <a:r>
              <a:rPr lang="en-US" sz="1400"/>
              <a:t>The autonomous agent logs meals, updates daily intake, and offers suggestions or reminders to support user goals.</a:t>
            </a:r>
          </a:p>
        </p:txBody>
      </p:sp>
      <p:pic>
        <p:nvPicPr>
          <p:cNvPr id="8" name="Content Placeholder 7" descr="Fish preparation at home.">
            <a:extLst>
              <a:ext uri="{FF2B5EF4-FFF2-40B4-BE49-F238E27FC236}">
                <a16:creationId xmlns:a16="http://schemas.microsoft.com/office/drawing/2014/main" id="{A9B44306-F48D-4739-8951-76E250462784}"/>
              </a:ext>
            </a:extLst>
          </p:cNvPr>
          <p:cNvPicPr>
            <a:picLocks noGrp="1" noChangeAspect="1"/>
          </p:cNvPicPr>
          <p:nvPr>
            <p:ph type="pic" sz="quarter" idx="13"/>
          </p:nvPr>
        </p:nvPicPr>
        <p:blipFill>
          <a:blip r:embed="rId3"/>
          <a:srcRect l="30824" r="26182" b="-1"/>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12346576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F8060-897D-C998-7FFC-EDAC4A03BC70}"/>
              </a:ext>
            </a:extLst>
          </p:cNvPr>
          <p:cNvSpPr>
            <a:spLocks noGrp="1"/>
          </p:cNvSpPr>
          <p:nvPr>
            <p:ph type="title"/>
          </p:nvPr>
        </p:nvSpPr>
        <p:spPr>
          <a:xfrm>
            <a:off x="64008" y="1435608"/>
            <a:ext cx="11594592" cy="5559552"/>
          </a:xfrm>
        </p:spPr>
        <p:txBody>
          <a:bodyPr anchor="b">
            <a:normAutofit/>
          </a:bodyPr>
          <a:lstStyle/>
          <a:p>
            <a:r>
              <a:rPr lang="en-US"/>
              <a:t>MVP Features</a:t>
            </a:r>
          </a:p>
        </p:txBody>
      </p:sp>
      <p:sp>
        <p:nvSpPr>
          <p:cNvPr id="4" name="Footer Placeholder 3">
            <a:extLst>
              <a:ext uri="{FF2B5EF4-FFF2-40B4-BE49-F238E27FC236}">
                <a16:creationId xmlns:a16="http://schemas.microsoft.com/office/drawing/2014/main" id="{3FA294EA-853F-10C9-F28D-85DF5A4ACC91}"/>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E8084BBD-DD90-F37B-F784-59E66BE645C8}"/>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387F4FC5-435D-7DDE-8492-4ECA1064C9DE}"/>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14</a:t>
            </a:fld>
            <a:endParaRPr lang="en-US"/>
          </a:p>
        </p:txBody>
      </p:sp>
    </p:spTree>
    <p:extLst>
      <p:ext uri="{BB962C8B-B14F-4D97-AF65-F5344CB8AC3E}">
        <p14:creationId xmlns:p14="http://schemas.microsoft.com/office/powerpoint/2010/main" val="6405160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2E3D-9399-0C9D-A722-41668B9280ED}"/>
              </a:ext>
            </a:extLst>
          </p:cNvPr>
          <p:cNvSpPr>
            <a:spLocks noGrp="1"/>
          </p:cNvSpPr>
          <p:nvPr>
            <p:ph type="title"/>
          </p:nvPr>
        </p:nvSpPr>
        <p:spPr>
          <a:xfrm>
            <a:off x="320558" y="612648"/>
            <a:ext cx="7015483" cy="1033272"/>
          </a:xfrm>
        </p:spPr>
        <p:txBody>
          <a:bodyPr anchor="b">
            <a:normAutofit/>
          </a:bodyPr>
          <a:lstStyle/>
          <a:p>
            <a:r>
              <a:rPr lang="en-US"/>
              <a:t>Key Functionalities of the Minimum Viable Product</a:t>
            </a:r>
          </a:p>
        </p:txBody>
      </p:sp>
      <p:sp>
        <p:nvSpPr>
          <p:cNvPr id="3" name="Footer Placeholder 2">
            <a:extLst>
              <a:ext uri="{FF2B5EF4-FFF2-40B4-BE49-F238E27FC236}">
                <a16:creationId xmlns:a16="http://schemas.microsoft.com/office/drawing/2014/main" id="{24C62CBE-BA29-DC9F-3AFA-151FD391AE85}"/>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a:solidFill>
                <a:schemeClr val="tx1"/>
              </a:solidFill>
            </a:endParaRPr>
          </a:p>
        </p:txBody>
      </p:sp>
      <p:sp>
        <p:nvSpPr>
          <p:cNvPr id="4" name="Date Placeholder 3">
            <a:extLst>
              <a:ext uri="{FF2B5EF4-FFF2-40B4-BE49-F238E27FC236}">
                <a16:creationId xmlns:a16="http://schemas.microsoft.com/office/drawing/2014/main" id="{4B01072B-EF6E-3129-9324-4624ADB4D83D}"/>
              </a:ext>
            </a:extLst>
          </p:cNvPr>
          <p:cNvSpPr>
            <a:spLocks noGrp="1"/>
          </p:cNvSpPr>
          <p:nvPr>
            <p:ph type="dt" sz="half" idx="14"/>
          </p:nvPr>
        </p:nvSpPr>
        <p:spPr>
          <a:xfrm>
            <a:off x="5224951" y="207982"/>
            <a:ext cx="1682496"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C4873709-2F98-9003-A1CE-08DCE3000761}"/>
              </a:ext>
            </a:extLst>
          </p:cNvPr>
          <p:cNvSpPr>
            <a:spLocks noGrp="1"/>
          </p:cNvSpPr>
          <p:nvPr>
            <p:ph type="sldNum" sz="quarter" idx="16"/>
          </p:nvPr>
        </p:nvSpPr>
        <p:spPr>
          <a:xfrm>
            <a:off x="6789594" y="207982"/>
            <a:ext cx="546447" cy="413360"/>
          </a:xfrm>
        </p:spPr>
        <p:txBody>
          <a:bodyPr anchor="ctr">
            <a:normAutofit/>
          </a:bodyPr>
          <a:lstStyle/>
          <a:p>
            <a:pPr>
              <a:spcAft>
                <a:spcPts val="600"/>
              </a:spcAft>
            </a:pPr>
            <a:fld id="{753D0FD4-819D-4187-8797-C35567B41C78}" type="slidenum">
              <a:rPr lang="en-US" smtClean="0"/>
              <a:pPr>
                <a:spcAft>
                  <a:spcPts val="600"/>
                </a:spcAft>
              </a:pPr>
              <a:t>15</a:t>
            </a:fld>
            <a:endParaRPr lang="en-US"/>
          </a:p>
        </p:txBody>
      </p:sp>
      <p:sp>
        <p:nvSpPr>
          <p:cNvPr id="7" name="Content Placeholder 6">
            <a:extLst>
              <a:ext uri="{FF2B5EF4-FFF2-40B4-BE49-F238E27FC236}">
                <a16:creationId xmlns:a16="http://schemas.microsoft.com/office/drawing/2014/main" id="{9AA454EB-B5A2-37AA-9111-B0292BA02F6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Instant Meal Analysis</a:t>
            </a:r>
          </a:p>
          <a:p>
            <a:pPr marL="0" lvl="1" indent="0">
              <a:buFont typeface="Arial" panose="020B0604020202020204" pitchFamily="34" charset="0"/>
              <a:buNone/>
            </a:pPr>
            <a:r>
              <a:rPr lang="en-US" sz="1400"/>
              <a:t>Users snap a photo of their meal and instantly receive calorie and nutritional information without manual entry.</a:t>
            </a:r>
          </a:p>
          <a:p>
            <a:pPr marL="0" indent="0">
              <a:spcBef>
                <a:spcPts val="2500"/>
              </a:spcBef>
              <a:buFont typeface="Arial" panose="020B0604020202020204" pitchFamily="34" charset="0"/>
              <a:buNone/>
            </a:pPr>
            <a:r>
              <a:rPr lang="en-US" sz="1400" b="1"/>
              <a:t>Automatic Meal Logging</a:t>
            </a:r>
          </a:p>
          <a:p>
            <a:pPr marL="0" lvl="1" indent="0">
              <a:buFont typeface="Arial" panose="020B0604020202020204" pitchFamily="34" charset="0"/>
              <a:buNone/>
            </a:pPr>
            <a:r>
              <a:rPr lang="en-US" sz="1400"/>
              <a:t>The system automatically logs meals to keep a daily record of nutritional intake without user effort.</a:t>
            </a:r>
          </a:p>
          <a:p>
            <a:pPr marL="0" indent="0">
              <a:spcBef>
                <a:spcPts val="2500"/>
              </a:spcBef>
              <a:buFont typeface="Arial" panose="020B0604020202020204" pitchFamily="34" charset="0"/>
              <a:buNone/>
            </a:pPr>
            <a:r>
              <a:rPr lang="en-US" sz="1400" b="1"/>
              <a:t>Daily Nutritional Summary</a:t>
            </a:r>
          </a:p>
          <a:p>
            <a:pPr marL="0" lvl="1" indent="0">
              <a:buFont typeface="Arial" panose="020B0604020202020204" pitchFamily="34" charset="0"/>
              <a:buNone/>
            </a:pPr>
            <a:r>
              <a:rPr lang="en-US" sz="1400"/>
              <a:t>Users receive a daily overview of their nutritional consumption to help maintain dietary goals.</a:t>
            </a:r>
          </a:p>
          <a:p>
            <a:pPr marL="0" indent="0">
              <a:spcBef>
                <a:spcPts val="2500"/>
              </a:spcBef>
              <a:buFont typeface="Arial" panose="020B0604020202020204" pitchFamily="34" charset="0"/>
              <a:buNone/>
            </a:pPr>
            <a:r>
              <a:rPr lang="en-US" sz="1400" b="1"/>
              <a:t>Personalized Dietary Suggestions</a:t>
            </a:r>
          </a:p>
          <a:p>
            <a:pPr marL="0" lvl="1" indent="0">
              <a:buFont typeface="Arial" panose="020B0604020202020204" pitchFamily="34" charset="0"/>
              <a:buNone/>
            </a:pPr>
            <a:r>
              <a:rPr lang="en-US" sz="1400"/>
              <a:t>AI provides personalized dietary suggestions based on user habits and preferences for better relevance.</a:t>
            </a:r>
          </a:p>
        </p:txBody>
      </p:sp>
      <p:pic>
        <p:nvPicPr>
          <p:cNvPr id="8" name="Content Placeholder 7" descr="Nutrition app and fresh vegetables on wooden countertop">
            <a:extLst>
              <a:ext uri="{FF2B5EF4-FFF2-40B4-BE49-F238E27FC236}">
                <a16:creationId xmlns:a16="http://schemas.microsoft.com/office/drawing/2014/main" id="{6138392B-954C-4BD4-83DF-5F71197BEE31}"/>
              </a:ext>
            </a:extLst>
          </p:cNvPr>
          <p:cNvPicPr>
            <a:picLocks noGrp="1" noChangeAspect="1"/>
          </p:cNvPicPr>
          <p:nvPr>
            <p:ph type="pic" sz="quarter" idx="13"/>
          </p:nvPr>
        </p:nvPicPr>
        <p:blipFill>
          <a:blip r:embed="rId3"/>
          <a:srcRect l="26924" r="30082" b="-1"/>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1204579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41F5-9B4C-6967-23FE-DD637720AC93}"/>
              </a:ext>
            </a:extLst>
          </p:cNvPr>
          <p:cNvSpPr>
            <a:spLocks noGrp="1"/>
          </p:cNvSpPr>
          <p:nvPr>
            <p:ph type="title"/>
          </p:nvPr>
        </p:nvSpPr>
        <p:spPr>
          <a:xfrm>
            <a:off x="64008" y="1435608"/>
            <a:ext cx="11594592" cy="5559552"/>
          </a:xfrm>
        </p:spPr>
        <p:txBody>
          <a:bodyPr anchor="b">
            <a:normAutofit/>
          </a:bodyPr>
          <a:lstStyle/>
          <a:p>
            <a:r>
              <a:rPr lang="en-US"/>
              <a:t>Next Steps</a:t>
            </a:r>
          </a:p>
        </p:txBody>
      </p:sp>
      <p:sp>
        <p:nvSpPr>
          <p:cNvPr id="4" name="Footer Placeholder 3">
            <a:extLst>
              <a:ext uri="{FF2B5EF4-FFF2-40B4-BE49-F238E27FC236}">
                <a16:creationId xmlns:a16="http://schemas.microsoft.com/office/drawing/2014/main" id="{8467666D-EE7F-46E9-4257-E7B8C6E6FB62}"/>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2745F326-7A37-3B08-5BAE-7847CCB6D860}"/>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F9FBECEE-33F6-AA08-41CF-6A73449E5592}"/>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16</a:t>
            </a:fld>
            <a:endParaRPr lang="en-US"/>
          </a:p>
        </p:txBody>
      </p:sp>
    </p:spTree>
    <p:extLst>
      <p:ext uri="{BB962C8B-B14F-4D97-AF65-F5344CB8AC3E}">
        <p14:creationId xmlns:p14="http://schemas.microsoft.com/office/powerpoint/2010/main" val="1325880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C92D1-2655-FDE5-B7A7-608310ED8A8B}"/>
              </a:ext>
            </a:extLst>
          </p:cNvPr>
          <p:cNvSpPr>
            <a:spLocks noGrp="1"/>
          </p:cNvSpPr>
          <p:nvPr>
            <p:ph type="title"/>
          </p:nvPr>
        </p:nvSpPr>
        <p:spPr>
          <a:xfrm>
            <a:off x="320557" y="762002"/>
            <a:ext cx="5294939" cy="1555895"/>
          </a:xfrm>
        </p:spPr>
        <p:txBody>
          <a:bodyPr anchor="t">
            <a:normAutofit/>
          </a:bodyPr>
          <a:lstStyle/>
          <a:p>
            <a:r>
              <a:rPr lang="en-US"/>
              <a:t>Development and Deployment Plan</a:t>
            </a:r>
          </a:p>
        </p:txBody>
      </p:sp>
      <p:sp>
        <p:nvSpPr>
          <p:cNvPr id="3" name="Footer Placeholder 2">
            <a:extLst>
              <a:ext uri="{FF2B5EF4-FFF2-40B4-BE49-F238E27FC236}">
                <a16:creationId xmlns:a16="http://schemas.microsoft.com/office/drawing/2014/main" id="{F7B6B061-88CF-546C-5875-7DF97C76F95A}"/>
              </a:ext>
            </a:extLst>
          </p:cNvPr>
          <p:cNvSpPr>
            <a:spLocks noGrp="1"/>
          </p:cNvSpPr>
          <p:nvPr>
            <p:ph type="ftr" sz="quarter" idx="15"/>
          </p:nvPr>
        </p:nvSpPr>
        <p:spPr>
          <a:xfrm>
            <a:off x="317773" y="207982"/>
            <a:ext cx="2963692" cy="413360"/>
          </a:xfrm>
        </p:spPr>
        <p:txBody>
          <a:bodyPr anchor="ctr">
            <a:normAutofit/>
          </a:bodyPr>
          <a:lstStyle/>
          <a:p>
            <a:r>
              <a:rPr lang="en-US" sz="900">
                <a:solidFill>
                  <a:schemeClr val="tx1"/>
                </a:solidFill>
              </a:rPr>
              <a:t>THE CALORIE COACH</a:t>
            </a:r>
            <a:endParaRPr lang="en-US" sz="900" b="0">
              <a:solidFill>
                <a:schemeClr val="tx1"/>
              </a:solidFill>
            </a:endParaRPr>
          </a:p>
        </p:txBody>
      </p:sp>
      <p:sp>
        <p:nvSpPr>
          <p:cNvPr id="4" name="Date Placeholder 3">
            <a:extLst>
              <a:ext uri="{FF2B5EF4-FFF2-40B4-BE49-F238E27FC236}">
                <a16:creationId xmlns:a16="http://schemas.microsoft.com/office/drawing/2014/main" id="{93F73E76-0149-5F76-B4D7-2D24DDDF7B51}"/>
              </a:ext>
            </a:extLst>
          </p:cNvPr>
          <p:cNvSpPr>
            <a:spLocks noGrp="1"/>
          </p:cNvSpPr>
          <p:nvPr>
            <p:ph type="dt" sz="half" idx="14"/>
          </p:nvPr>
        </p:nvSpPr>
        <p:spPr>
          <a:xfrm>
            <a:off x="6340642" y="207982"/>
            <a:ext cx="1921315" cy="413360"/>
          </a:xfrm>
        </p:spPr>
        <p:txBody>
          <a:bodyPr anchor="ctr">
            <a:normAutofit/>
          </a:bodyPr>
          <a:lstStyle/>
          <a:p>
            <a:pPr>
              <a:spcAft>
                <a:spcPts val="600"/>
              </a:spcAft>
            </a:pPr>
            <a:fld id="{9EAD527F-9C49-4481-A18C-80BA2EA99E79}" type="datetime1">
              <a:rPr lang="en-US" smtClean="0"/>
              <a:pPr>
                <a:spcAft>
                  <a:spcPts val="600"/>
                </a:spcAft>
              </a:pPr>
              <a:t>10/9/2025</a:t>
            </a:fld>
            <a:endParaRPr lang="en-US"/>
          </a:p>
        </p:txBody>
      </p:sp>
      <p:sp>
        <p:nvSpPr>
          <p:cNvPr id="5" name="Slide Number Placeholder 4">
            <a:extLst>
              <a:ext uri="{FF2B5EF4-FFF2-40B4-BE49-F238E27FC236}">
                <a16:creationId xmlns:a16="http://schemas.microsoft.com/office/drawing/2014/main" id="{B091E7B9-0132-6899-5229-4FC1E6334855}"/>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17</a:t>
            </a:fld>
            <a:endParaRPr lang="en-US"/>
          </a:p>
        </p:txBody>
      </p:sp>
      <p:pic>
        <p:nvPicPr>
          <p:cNvPr id="8" name="Content Placeholder 7" descr="Computer screens in laboratory. DNA models and data">
            <a:extLst>
              <a:ext uri="{FF2B5EF4-FFF2-40B4-BE49-F238E27FC236}">
                <a16:creationId xmlns:a16="http://schemas.microsoft.com/office/drawing/2014/main" id="{AA22FFFB-9BE0-4DA6-B1A8-84F2D5928C14}"/>
              </a:ext>
            </a:extLst>
          </p:cNvPr>
          <p:cNvPicPr>
            <a:picLocks noGrp="1" noChangeAspect="1"/>
          </p:cNvPicPr>
          <p:nvPr>
            <p:ph type="pic" sz="quarter" idx="13"/>
          </p:nvPr>
        </p:nvPicPr>
        <p:blipFill>
          <a:blip r:embed="rId3"/>
          <a:srcRect l="19629" r="10283" b="-2"/>
          <a:stretch>
            <a:fillRect/>
          </a:stretch>
        </p:blipFill>
        <p:spPr>
          <a:xfrm>
            <a:off x="20" y="2442689"/>
            <a:ext cx="5875401" cy="4422032"/>
          </a:xfrm>
          <a:prstGeom prst="rect">
            <a:avLst/>
          </a:prstGeom>
          <a:noFill/>
        </p:spPr>
      </p:pic>
      <p:sp>
        <p:nvSpPr>
          <p:cNvPr id="7" name="Content Placeholder 6">
            <a:extLst>
              <a:ext uri="{FF2B5EF4-FFF2-40B4-BE49-F238E27FC236}">
                <a16:creationId xmlns:a16="http://schemas.microsoft.com/office/drawing/2014/main" id="{A8E3F771-7FD7-88F9-B844-C369E6FC184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400" b="1"/>
              <a:t>Vision Model Training</a:t>
            </a:r>
          </a:p>
          <a:p>
            <a:pPr marL="0" lvl="1" indent="0">
              <a:buFont typeface="Arial" panose="020B0604020202020204" pitchFamily="34" charset="0"/>
              <a:buNone/>
            </a:pPr>
            <a:r>
              <a:rPr lang="en-US" sz="1400"/>
              <a:t>Build and train the vision model using food image datasets for accurate food recognition.</a:t>
            </a:r>
          </a:p>
          <a:p>
            <a:pPr marL="0" indent="0">
              <a:spcBef>
                <a:spcPts val="2500"/>
              </a:spcBef>
              <a:buFont typeface="Arial" panose="020B0604020202020204" pitchFamily="34" charset="0"/>
              <a:buNone/>
            </a:pPr>
            <a:r>
              <a:rPr lang="en-US" sz="1400" b="1"/>
              <a:t>Natural Language Processing Integration</a:t>
            </a:r>
          </a:p>
          <a:p>
            <a:pPr marL="0" lvl="1" indent="0">
              <a:buFont typeface="Arial" panose="020B0604020202020204" pitchFamily="34" charset="0"/>
              <a:buNone/>
            </a:pPr>
            <a:r>
              <a:rPr lang="en-US" sz="1400"/>
              <a:t>Integrate GPT-4o Mini to handle natural language and generate personalized user feedback.</a:t>
            </a:r>
          </a:p>
          <a:p>
            <a:pPr marL="0" indent="0">
              <a:spcBef>
                <a:spcPts val="2500"/>
              </a:spcBef>
              <a:buFont typeface="Arial" panose="020B0604020202020204" pitchFamily="34" charset="0"/>
              <a:buNone/>
            </a:pPr>
            <a:r>
              <a:rPr lang="en-US" sz="1400" b="1"/>
              <a:t>Mobile App Development</a:t>
            </a:r>
          </a:p>
          <a:p>
            <a:pPr marL="0" lvl="1" indent="0">
              <a:buFont typeface="Arial" panose="020B0604020202020204" pitchFamily="34" charset="0"/>
              <a:buNone/>
            </a:pPr>
            <a:r>
              <a:rPr lang="en-US" sz="1400"/>
              <a:t>Develop mobile app interface using Flutter or React Native focusing on real-time user interaction.</a:t>
            </a:r>
          </a:p>
          <a:p>
            <a:pPr marL="0" indent="0">
              <a:spcBef>
                <a:spcPts val="2500"/>
              </a:spcBef>
              <a:buFont typeface="Arial" panose="020B0604020202020204" pitchFamily="34" charset="0"/>
              <a:buNone/>
            </a:pPr>
            <a:r>
              <a:rPr lang="en-US" sz="1400" b="1"/>
              <a:t>Testing and Feedback</a:t>
            </a:r>
          </a:p>
          <a:p>
            <a:pPr marL="0" lvl="1" indent="0">
              <a:buFont typeface="Arial" panose="020B0604020202020204" pitchFamily="34" charset="0"/>
              <a:buNone/>
            </a:pPr>
            <a:r>
              <a:rPr lang="en-US" sz="1400"/>
              <a:t>Launch MVP to select users for testing, gather feedback, and iteratively improve the product.</a:t>
            </a:r>
          </a:p>
        </p:txBody>
      </p:sp>
    </p:spTree>
    <p:extLst>
      <p:ext uri="{BB962C8B-B14F-4D97-AF65-F5344CB8AC3E}">
        <p14:creationId xmlns:p14="http://schemas.microsoft.com/office/powerpoint/2010/main" val="1305264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65B72-76D8-E31A-4086-451178CC10BC}"/>
              </a:ext>
            </a:extLst>
          </p:cNvPr>
          <p:cNvSpPr>
            <a:spLocks noGrp="1"/>
          </p:cNvSpPr>
          <p:nvPr>
            <p:ph type="title"/>
          </p:nvPr>
        </p:nvSpPr>
        <p:spPr/>
        <p:txBody>
          <a:bodyPr/>
          <a:lstStyle/>
          <a:p>
            <a:r>
              <a:rPr lang="en-US"/>
              <a:t>INTRO to</a:t>
            </a:r>
            <a:br>
              <a:rPr lang="en-US"/>
            </a:br>
            <a:r>
              <a:rPr lang="en-US"/>
              <a:t>Calorie coach</a:t>
            </a:r>
          </a:p>
        </p:txBody>
      </p:sp>
      <p:pic>
        <p:nvPicPr>
          <p:cNvPr id="8" name="Picture Placeholder 7" descr="A screenshot of a computer&#10;&#10;AI-generated content may be incorrect.">
            <a:extLst>
              <a:ext uri="{FF2B5EF4-FFF2-40B4-BE49-F238E27FC236}">
                <a16:creationId xmlns:a16="http://schemas.microsoft.com/office/drawing/2014/main" id="{BD282D14-D62B-25D6-0615-1E1713438DA4}"/>
              </a:ext>
            </a:extLst>
          </p:cNvPr>
          <p:cNvPicPr>
            <a:picLocks noGrp="1" noChangeAspect="1"/>
          </p:cNvPicPr>
          <p:nvPr>
            <p:ph type="pic" sz="quarter" idx="13"/>
          </p:nvPr>
        </p:nvPicPr>
        <p:blipFill>
          <a:blip r:embed="rId2"/>
          <a:srcRect l="3364" r="3364"/>
          <a:stretch/>
        </p:blipFill>
        <p:spPr>
          <a:prstGeom prst="rect">
            <a:avLst/>
          </a:prstGeom>
          <a:blipFill>
            <a:blip r:embed="rId3">
              <a:alphaModFix amt="80000"/>
            </a:blip>
            <a:stretch>
              <a:fillRect/>
            </a:stretch>
          </a:blipFill>
        </p:spPr>
      </p:pic>
      <p:sp>
        <p:nvSpPr>
          <p:cNvPr id="4" name="Content Placeholder 3">
            <a:extLst>
              <a:ext uri="{FF2B5EF4-FFF2-40B4-BE49-F238E27FC236}">
                <a16:creationId xmlns:a16="http://schemas.microsoft.com/office/drawing/2014/main" id="{C7618DE9-FC4D-37C4-5775-AE331A361933}"/>
              </a:ext>
            </a:extLst>
          </p:cNvPr>
          <p:cNvSpPr>
            <a:spLocks noGrp="1"/>
          </p:cNvSpPr>
          <p:nvPr>
            <p:ph idx="1"/>
          </p:nvPr>
        </p:nvSpPr>
        <p:spPr/>
        <p:txBody>
          <a:bodyPr vert="horz" lIns="91440" tIns="45720" rIns="91440" bIns="45720" rtlCol="0" anchor="t">
            <a:noAutofit/>
          </a:bodyPr>
          <a:lstStyle/>
          <a:p>
            <a:pPr marL="0" indent="0">
              <a:buNone/>
            </a:pPr>
            <a:r>
              <a:rPr lang="en-US" sz="1400" b="1">
                <a:solidFill>
                  <a:schemeClr val="tx1"/>
                </a:solidFill>
                <a:ea typeface="+mn-lt"/>
                <a:cs typeface="+mn-lt"/>
              </a:rPr>
              <a:t>Calorie Coach</a:t>
            </a:r>
            <a:r>
              <a:rPr lang="en-US" sz="1400">
                <a:solidFill>
                  <a:schemeClr val="tx1"/>
                </a:solidFill>
                <a:ea typeface="+mn-lt"/>
                <a:cs typeface="+mn-lt"/>
              </a:rPr>
              <a:t> is a smart, user-friendly application designed to help users monitor and manage their daily nutritional intake.</a:t>
            </a:r>
            <a:endParaRPr lang="en-US" sz="1400">
              <a:solidFill>
                <a:schemeClr val="tx1"/>
              </a:solidFill>
            </a:endParaRPr>
          </a:p>
          <a:p>
            <a:pPr marL="0" indent="0">
              <a:buNone/>
            </a:pPr>
            <a:r>
              <a:rPr lang="en-US" sz="1400">
                <a:solidFill>
                  <a:schemeClr val="tx1"/>
                </a:solidFill>
                <a:ea typeface="+mn-lt"/>
                <a:cs typeface="+mn-lt"/>
              </a:rPr>
              <a:t>The app features a clean dashboard with tabs for:</a:t>
            </a:r>
            <a:endParaRPr lang="en-US" sz="1400">
              <a:solidFill>
                <a:schemeClr val="tx1"/>
              </a:solidFill>
            </a:endParaRPr>
          </a:p>
          <a:p>
            <a:pPr lvl="1"/>
            <a:r>
              <a:rPr lang="en-US" sz="1400" b="1">
                <a:solidFill>
                  <a:schemeClr val="tx1"/>
                </a:solidFill>
                <a:ea typeface="+mn-lt"/>
                <a:cs typeface="+mn-lt"/>
              </a:rPr>
              <a:t>Dashboard</a:t>
            </a:r>
            <a:r>
              <a:rPr lang="en-US" sz="1400">
                <a:solidFill>
                  <a:schemeClr val="tx1"/>
                </a:solidFill>
                <a:ea typeface="+mn-lt"/>
                <a:cs typeface="+mn-lt"/>
              </a:rPr>
              <a:t> – Overview of daily progress</a:t>
            </a:r>
            <a:endParaRPr lang="en-US" sz="1400">
              <a:solidFill>
                <a:schemeClr val="tx1"/>
              </a:solidFill>
            </a:endParaRPr>
          </a:p>
          <a:p>
            <a:pPr lvl="1"/>
            <a:r>
              <a:rPr lang="en-US" sz="1400" b="1">
                <a:solidFill>
                  <a:schemeClr val="tx1"/>
                </a:solidFill>
                <a:ea typeface="+mn-lt"/>
                <a:cs typeface="+mn-lt"/>
              </a:rPr>
              <a:t>Camera &amp; Voice</a:t>
            </a:r>
            <a:r>
              <a:rPr lang="en-US" sz="1400">
                <a:solidFill>
                  <a:schemeClr val="tx1"/>
                </a:solidFill>
                <a:ea typeface="+mn-lt"/>
                <a:cs typeface="+mn-lt"/>
              </a:rPr>
              <a:t> – Log meals using AI-powered input</a:t>
            </a:r>
            <a:endParaRPr lang="en-US" sz="1400">
              <a:solidFill>
                <a:schemeClr val="tx1"/>
              </a:solidFill>
            </a:endParaRPr>
          </a:p>
          <a:p>
            <a:pPr lvl="1"/>
            <a:r>
              <a:rPr lang="en-US" sz="1400" b="1">
                <a:solidFill>
                  <a:schemeClr val="tx1"/>
                </a:solidFill>
                <a:ea typeface="+mn-lt"/>
                <a:cs typeface="+mn-lt"/>
              </a:rPr>
              <a:t>History</a:t>
            </a:r>
            <a:r>
              <a:rPr lang="en-US" sz="1400">
                <a:solidFill>
                  <a:schemeClr val="tx1"/>
                </a:solidFill>
                <a:ea typeface="+mn-lt"/>
                <a:cs typeface="+mn-lt"/>
              </a:rPr>
              <a:t> – Review past nutrition data</a:t>
            </a:r>
            <a:endParaRPr lang="en-US" sz="1400">
              <a:solidFill>
                <a:schemeClr val="tx1"/>
              </a:solidFill>
            </a:endParaRPr>
          </a:p>
          <a:p>
            <a:pPr lvl="1"/>
            <a:r>
              <a:rPr lang="en-US" sz="1400" b="1">
                <a:solidFill>
                  <a:schemeClr val="tx1"/>
                </a:solidFill>
                <a:ea typeface="+mn-lt"/>
                <a:cs typeface="+mn-lt"/>
              </a:rPr>
              <a:t>Alerts</a:t>
            </a:r>
            <a:r>
              <a:rPr lang="en-US" sz="1400">
                <a:solidFill>
                  <a:schemeClr val="tx1"/>
                </a:solidFill>
                <a:ea typeface="+mn-lt"/>
                <a:cs typeface="+mn-lt"/>
              </a:rPr>
              <a:t> – Get reminders and health tips</a:t>
            </a:r>
            <a:endParaRPr lang="en-US" sz="1400">
              <a:solidFill>
                <a:schemeClr val="tx1"/>
              </a:solidFill>
            </a:endParaRPr>
          </a:p>
          <a:p>
            <a:pPr lvl="1"/>
            <a:r>
              <a:rPr lang="en-US" sz="1400" b="1">
                <a:solidFill>
                  <a:schemeClr val="tx1"/>
                </a:solidFill>
                <a:ea typeface="+mn-lt"/>
                <a:cs typeface="+mn-lt"/>
              </a:rPr>
              <a:t>Profile</a:t>
            </a:r>
            <a:r>
              <a:rPr lang="en-US" sz="1400">
                <a:solidFill>
                  <a:schemeClr val="tx1"/>
                </a:solidFill>
                <a:ea typeface="+mn-lt"/>
                <a:cs typeface="+mn-lt"/>
              </a:rPr>
              <a:t> – Customize user settings and goals</a:t>
            </a:r>
            <a:endParaRPr lang="en-US" sz="1400">
              <a:solidFill>
                <a:schemeClr val="tx1"/>
              </a:solidFill>
            </a:endParaRPr>
          </a:p>
          <a:p>
            <a:pPr lvl="1"/>
            <a:r>
              <a:rPr lang="en-US" sz="1400" b="1">
                <a:solidFill>
                  <a:schemeClr val="tx1"/>
                </a:solidFill>
                <a:ea typeface="+mn-lt"/>
                <a:cs typeface="+mn-lt"/>
              </a:rPr>
              <a:t>Visual Cue:</a:t>
            </a:r>
            <a:br>
              <a:rPr lang="en-US" sz="1400" b="1">
                <a:ea typeface="+mn-lt"/>
                <a:cs typeface="+mn-lt"/>
              </a:rPr>
            </a:br>
            <a:r>
              <a:rPr lang="en-US" sz="1400" b="1">
                <a:solidFill>
                  <a:schemeClr val="tx1"/>
                </a:solidFill>
                <a:ea typeface="+mn-lt"/>
                <a:cs typeface="+mn-lt"/>
              </a:rPr>
              <a:t>Include the uploaded image showing the main dashboard interface.</a:t>
            </a:r>
            <a:endParaRPr lang="en-US" sz="1400">
              <a:solidFill>
                <a:schemeClr val="tx1"/>
              </a:solidFill>
            </a:endParaRPr>
          </a:p>
          <a:p>
            <a:endParaRPr lang="en-US"/>
          </a:p>
        </p:txBody>
      </p:sp>
      <p:sp>
        <p:nvSpPr>
          <p:cNvPr id="5" name="Footer Placeholder 4">
            <a:extLst>
              <a:ext uri="{FF2B5EF4-FFF2-40B4-BE49-F238E27FC236}">
                <a16:creationId xmlns:a16="http://schemas.microsoft.com/office/drawing/2014/main" id="{891E6B92-16BB-F11E-D50C-36D779F62378}"/>
              </a:ext>
            </a:extLst>
          </p:cNvPr>
          <p:cNvSpPr>
            <a:spLocks noGrp="1"/>
          </p:cNvSpPr>
          <p:nvPr>
            <p:ph type="ftr" sz="quarter" idx="11"/>
          </p:nvPr>
        </p:nvSpPr>
        <p:spPr/>
        <p:txBody>
          <a:bodyPr/>
          <a:lstStyle/>
          <a:p>
            <a:r>
              <a:rPr lang="en-US"/>
              <a:t>Footer Text</a:t>
            </a:r>
          </a:p>
        </p:txBody>
      </p:sp>
      <p:sp>
        <p:nvSpPr>
          <p:cNvPr id="6" name="Date Placeholder 5">
            <a:extLst>
              <a:ext uri="{FF2B5EF4-FFF2-40B4-BE49-F238E27FC236}">
                <a16:creationId xmlns:a16="http://schemas.microsoft.com/office/drawing/2014/main" id="{4FAE16B9-A107-39DB-DA61-9B42CDF3FF53}"/>
              </a:ext>
            </a:extLst>
          </p:cNvPr>
          <p:cNvSpPr>
            <a:spLocks noGrp="1"/>
          </p:cNvSpPr>
          <p:nvPr>
            <p:ph type="dt" sz="half" idx="10"/>
          </p:nvPr>
        </p:nvSpPr>
        <p:spPr/>
        <p:txBody>
          <a:bodyPr/>
          <a:lstStyle/>
          <a:p>
            <a:fld id="{948C47DC-C479-4517-B1B0-94DB01BA76E7}" type="datetime1">
              <a:rPr lang="en-US" smtClean="0"/>
              <a:t>10/9/2025</a:t>
            </a:fld>
            <a:endParaRPr lang="en-US"/>
          </a:p>
        </p:txBody>
      </p:sp>
      <p:sp>
        <p:nvSpPr>
          <p:cNvPr id="7" name="Slide Number Placeholder 6">
            <a:extLst>
              <a:ext uri="{FF2B5EF4-FFF2-40B4-BE49-F238E27FC236}">
                <a16:creationId xmlns:a16="http://schemas.microsoft.com/office/drawing/2014/main" id="{FC0F40E5-C6BB-2E6F-014C-8984F49C8AA0}"/>
              </a:ext>
            </a:extLst>
          </p:cNvPr>
          <p:cNvSpPr>
            <a:spLocks noGrp="1"/>
          </p:cNvSpPr>
          <p:nvPr>
            <p:ph type="sldNum" sz="quarter" idx="12"/>
          </p:nvPr>
        </p:nvSpPr>
        <p:spPr/>
        <p:txBody>
          <a:bodyPr/>
          <a:lstStyle/>
          <a:p>
            <a:fld id="{753D0FD4-819D-4187-8797-C35567B41C78}" type="slidenum">
              <a:rPr lang="en-US" smtClean="0"/>
              <a:t>18</a:t>
            </a:fld>
            <a:endParaRPr lang="en-US"/>
          </a:p>
        </p:txBody>
      </p:sp>
    </p:spTree>
    <p:extLst>
      <p:ext uri="{BB962C8B-B14F-4D97-AF65-F5344CB8AC3E}">
        <p14:creationId xmlns:p14="http://schemas.microsoft.com/office/powerpoint/2010/main" val="1980643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43AF-DB5E-D6A8-FDAE-ADF2571F9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D3403-6184-86E0-A73B-25523B3FBB8F}"/>
              </a:ext>
            </a:extLst>
          </p:cNvPr>
          <p:cNvSpPr>
            <a:spLocks noGrp="1"/>
          </p:cNvSpPr>
          <p:nvPr>
            <p:ph type="title"/>
          </p:nvPr>
        </p:nvSpPr>
        <p:spPr>
          <a:xfrm>
            <a:off x="5171694" y="1247489"/>
            <a:ext cx="6564345" cy="1198627"/>
          </a:xfrm>
        </p:spPr>
        <p:txBody>
          <a:bodyPr>
            <a:normAutofit fontScale="90000"/>
          </a:bodyPr>
          <a:lstStyle/>
          <a:p>
            <a:r>
              <a:rPr lang="en-US"/>
              <a:t>INTRO to</a:t>
            </a:r>
            <a:br>
              <a:rPr lang="en-US"/>
            </a:br>
            <a:r>
              <a:rPr lang="en-US"/>
              <a:t>Calorie coach</a:t>
            </a:r>
            <a:endParaRPr lang="en-US">
              <a:solidFill>
                <a:srgbClr val="000000"/>
              </a:solidFill>
            </a:endParaRPr>
          </a:p>
        </p:txBody>
      </p:sp>
      <p:pic>
        <p:nvPicPr>
          <p:cNvPr id="8" name="Picture Placeholder 7" descr="A screenshot of a computer&#10;&#10;AI-generated content may be incorrect.">
            <a:extLst>
              <a:ext uri="{FF2B5EF4-FFF2-40B4-BE49-F238E27FC236}">
                <a16:creationId xmlns:a16="http://schemas.microsoft.com/office/drawing/2014/main" id="{7A0A615B-E5FE-A5FA-8CD3-BE01A4D181E7}"/>
              </a:ext>
            </a:extLst>
          </p:cNvPr>
          <p:cNvPicPr>
            <a:picLocks noGrp="1" noChangeAspect="1"/>
          </p:cNvPicPr>
          <p:nvPr>
            <p:ph type="pic" sz="quarter" idx="13"/>
          </p:nvPr>
        </p:nvPicPr>
        <p:blipFill>
          <a:blip r:embed="rId2"/>
          <a:srcRect l="3364" r="3364"/>
          <a:stretch/>
        </p:blipFill>
        <p:spPr>
          <a:prstGeom prst="rect">
            <a:avLst/>
          </a:prstGeom>
          <a:blipFill>
            <a:blip r:embed="rId3">
              <a:alphaModFix amt="80000"/>
            </a:blip>
            <a:stretch>
              <a:fillRect/>
            </a:stretch>
          </a:blipFill>
        </p:spPr>
      </p:pic>
      <p:sp>
        <p:nvSpPr>
          <p:cNvPr id="4" name="Content Placeholder 3">
            <a:extLst>
              <a:ext uri="{FF2B5EF4-FFF2-40B4-BE49-F238E27FC236}">
                <a16:creationId xmlns:a16="http://schemas.microsoft.com/office/drawing/2014/main" id="{DDC29644-FFCE-D84D-8580-4640A690DFEE}"/>
              </a:ext>
            </a:extLst>
          </p:cNvPr>
          <p:cNvSpPr>
            <a:spLocks noGrp="1"/>
          </p:cNvSpPr>
          <p:nvPr>
            <p:ph idx="1"/>
          </p:nvPr>
        </p:nvSpPr>
        <p:spPr>
          <a:xfrm>
            <a:off x="5266943" y="2651760"/>
            <a:ext cx="6780086" cy="4202715"/>
          </a:xfrm>
        </p:spPr>
        <p:txBody>
          <a:bodyPr vert="horz" lIns="91440" tIns="45720" rIns="91440" bIns="45720" rtlCol="0" anchor="t">
            <a:normAutofit/>
          </a:bodyPr>
          <a:lstStyle/>
          <a:p>
            <a:pPr>
              <a:buNone/>
            </a:pPr>
            <a:r>
              <a:rPr lang="en-US" sz="1600" b="1">
                <a:solidFill>
                  <a:schemeClr val="tx1"/>
                </a:solidFill>
              </a:rPr>
              <a:t>Slide 2: Tracking Your Health Goals</a:t>
            </a:r>
            <a:endParaRPr lang="en-US" sz="1600">
              <a:solidFill>
                <a:schemeClr val="tx1"/>
              </a:solidFill>
            </a:endParaRPr>
          </a:p>
          <a:p>
            <a:pPr>
              <a:buNone/>
            </a:pPr>
            <a:r>
              <a:rPr lang="en-US" sz="1400" b="1">
                <a:solidFill>
                  <a:schemeClr val="tx1"/>
                </a:solidFill>
                <a:ea typeface="+mn-lt"/>
                <a:cs typeface="+mn-lt"/>
              </a:rPr>
              <a:t>Title: </a:t>
            </a:r>
            <a:r>
              <a:rPr lang="en-US" sz="1400" i="1">
                <a:solidFill>
                  <a:schemeClr val="tx1"/>
                </a:solidFill>
                <a:ea typeface="+mn-lt"/>
                <a:cs typeface="+mn-lt"/>
              </a:rPr>
              <a:t>Stay on Track with Real-Time Insights</a:t>
            </a:r>
            <a:endParaRPr lang="en-US" sz="1400">
              <a:solidFill>
                <a:schemeClr val="tx1"/>
              </a:solidFill>
            </a:endParaRPr>
          </a:p>
          <a:p>
            <a:pPr marL="0" indent="0">
              <a:buNone/>
            </a:pPr>
            <a:r>
              <a:rPr lang="en-US" sz="1400" b="1">
                <a:solidFill>
                  <a:schemeClr val="tx1"/>
                </a:solidFill>
                <a:ea typeface="+mn-lt"/>
                <a:cs typeface="+mn-lt"/>
              </a:rPr>
              <a:t>Today's Progress</a:t>
            </a:r>
            <a:r>
              <a:rPr lang="en-US" sz="1400">
                <a:solidFill>
                  <a:schemeClr val="tx1"/>
                </a:solidFill>
                <a:ea typeface="+mn-lt"/>
                <a:cs typeface="+mn-lt"/>
              </a:rPr>
              <a:t> section displays:</a:t>
            </a:r>
            <a:endParaRPr lang="en-US" sz="1400">
              <a:solidFill>
                <a:schemeClr val="tx1"/>
              </a:solidFill>
            </a:endParaRPr>
          </a:p>
          <a:p>
            <a:pPr marL="1143000" lvl="1"/>
            <a:r>
              <a:rPr lang="en-US" sz="1400" b="1">
                <a:solidFill>
                  <a:schemeClr val="tx1"/>
                </a:solidFill>
                <a:ea typeface="+mn-lt"/>
                <a:cs typeface="+mn-lt"/>
              </a:rPr>
              <a:t>Calories:</a:t>
            </a:r>
            <a:r>
              <a:rPr lang="en-US" sz="1400">
                <a:solidFill>
                  <a:schemeClr val="tx1"/>
                </a:solidFill>
                <a:ea typeface="+mn-lt"/>
                <a:cs typeface="+mn-lt"/>
              </a:rPr>
              <a:t> 0/2000 kcal</a:t>
            </a:r>
            <a:endParaRPr lang="en-US" sz="1400">
              <a:solidFill>
                <a:schemeClr val="tx1"/>
              </a:solidFill>
            </a:endParaRPr>
          </a:p>
          <a:p>
            <a:pPr marL="1143000" lvl="1"/>
            <a:r>
              <a:rPr lang="en-US" sz="1400" b="1">
                <a:solidFill>
                  <a:schemeClr val="tx1"/>
                </a:solidFill>
                <a:ea typeface="+mn-lt"/>
                <a:cs typeface="+mn-lt"/>
              </a:rPr>
              <a:t>Water Intake:</a:t>
            </a:r>
            <a:r>
              <a:rPr lang="en-US" sz="1400">
                <a:solidFill>
                  <a:schemeClr val="tx1"/>
                </a:solidFill>
                <a:ea typeface="+mn-lt"/>
                <a:cs typeface="+mn-lt"/>
              </a:rPr>
              <a:t> 750ml/2500ml (30% complete)</a:t>
            </a:r>
            <a:endParaRPr lang="en-US" sz="1400">
              <a:solidFill>
                <a:schemeClr val="tx1"/>
              </a:solidFill>
            </a:endParaRPr>
          </a:p>
          <a:p>
            <a:pPr marL="1143000" lvl="1"/>
            <a:r>
              <a:rPr lang="en-US" sz="1400" b="1">
                <a:solidFill>
                  <a:schemeClr val="tx1"/>
                </a:solidFill>
                <a:ea typeface="+mn-lt"/>
                <a:cs typeface="+mn-lt"/>
              </a:rPr>
              <a:t>Macronutrients:</a:t>
            </a:r>
            <a:r>
              <a:rPr lang="en-US" sz="1400">
                <a:solidFill>
                  <a:schemeClr val="tx1"/>
                </a:solidFill>
                <a:ea typeface="+mn-lt"/>
                <a:cs typeface="+mn-lt"/>
              </a:rPr>
              <a:t> Protein, Carbs, Fat – all at 0.0g</a:t>
            </a:r>
            <a:endParaRPr lang="en-US" sz="1400">
              <a:solidFill>
                <a:schemeClr val="tx1"/>
              </a:solidFill>
            </a:endParaRPr>
          </a:p>
          <a:p>
            <a:pPr marL="0" indent="0">
              <a:buNone/>
            </a:pPr>
            <a:r>
              <a:rPr lang="en-US" sz="1400" b="1">
                <a:solidFill>
                  <a:schemeClr val="tx1"/>
                </a:solidFill>
                <a:ea typeface="+mn-lt"/>
                <a:cs typeface="+mn-lt"/>
              </a:rPr>
              <a:t>Quick Logging Tools:</a:t>
            </a:r>
            <a:endParaRPr lang="en-US" sz="1400">
              <a:solidFill>
                <a:schemeClr val="tx1"/>
              </a:solidFill>
            </a:endParaRPr>
          </a:p>
          <a:p>
            <a:pPr marL="1143000" lvl="1"/>
            <a:r>
              <a:rPr lang="en-US" sz="1400">
                <a:solidFill>
                  <a:schemeClr val="tx1"/>
                </a:solidFill>
                <a:ea typeface="+mn-lt"/>
                <a:cs typeface="+mn-lt"/>
              </a:rPr>
              <a:t>Water intake buttons: 250ml, 500ml, 750ml</a:t>
            </a:r>
            <a:endParaRPr lang="en-US" sz="1400">
              <a:solidFill>
                <a:schemeClr val="tx1"/>
              </a:solidFill>
            </a:endParaRPr>
          </a:p>
          <a:p>
            <a:pPr marL="1143000" lvl="1"/>
            <a:r>
              <a:rPr lang="en-US" sz="1400">
                <a:solidFill>
                  <a:schemeClr val="tx1"/>
                </a:solidFill>
                <a:ea typeface="+mn-lt"/>
                <a:cs typeface="+mn-lt"/>
              </a:rPr>
              <a:t>Weight tracking: Current – 75.0kg | Target – 70.0kg</a:t>
            </a:r>
            <a:endParaRPr lang="en-US" sz="1400">
              <a:solidFill>
                <a:schemeClr val="tx1"/>
              </a:solidFill>
            </a:endParaRPr>
          </a:p>
          <a:p>
            <a:pPr marL="0" indent="0">
              <a:buNone/>
            </a:pPr>
            <a:r>
              <a:rPr lang="en-US" sz="1400">
                <a:solidFill>
                  <a:schemeClr val="tx1"/>
                </a:solidFill>
                <a:ea typeface="+mn-lt"/>
                <a:cs typeface="+mn-lt"/>
              </a:rPr>
              <a:t>Helps users stay accountable and make informed dietary choices.</a:t>
            </a:r>
          </a:p>
          <a:p>
            <a:pPr marL="0" indent="0">
              <a:buNone/>
            </a:pPr>
            <a:r>
              <a:rPr lang="en-US" sz="1400" b="1">
                <a:solidFill>
                  <a:schemeClr val="tx1"/>
                </a:solidFill>
                <a:ea typeface="+mn-lt"/>
                <a:cs typeface="+mn-lt"/>
              </a:rPr>
              <a:t>Visual Cue:</a:t>
            </a:r>
            <a:br>
              <a:rPr lang="en-US" sz="1400" b="1">
                <a:ea typeface="+mn-lt"/>
                <a:cs typeface="+mn-lt"/>
              </a:rPr>
            </a:br>
            <a:r>
              <a:rPr lang="en-US" sz="1400" b="1">
                <a:solidFill>
                  <a:schemeClr val="tx1"/>
                </a:solidFill>
                <a:ea typeface="+mn-lt"/>
                <a:cs typeface="+mn-lt"/>
              </a:rPr>
              <a:t>Use the same image to highlight the progress bars and logging features.</a:t>
            </a:r>
            <a:endParaRPr lang="en-US" sz="1400">
              <a:solidFill>
                <a:schemeClr val="tx1"/>
              </a:solidFill>
            </a:endParaRPr>
          </a:p>
          <a:p>
            <a:pPr marL="0" indent="0">
              <a:buFont typeface="Haettenschweiler"/>
              <a:buNone/>
            </a:pPr>
            <a:endParaRPr lang="en-US" sz="1400" b="1">
              <a:solidFill>
                <a:schemeClr val="tx1"/>
              </a:solidFill>
            </a:endParaRPr>
          </a:p>
          <a:p>
            <a:endParaRPr lang="en-US" sz="2400">
              <a:solidFill>
                <a:schemeClr val="tx1"/>
              </a:solidFill>
            </a:endParaRPr>
          </a:p>
        </p:txBody>
      </p:sp>
      <p:sp>
        <p:nvSpPr>
          <p:cNvPr id="5" name="Footer Placeholder 4">
            <a:extLst>
              <a:ext uri="{FF2B5EF4-FFF2-40B4-BE49-F238E27FC236}">
                <a16:creationId xmlns:a16="http://schemas.microsoft.com/office/drawing/2014/main" id="{B13B95DF-846D-11FF-E6FF-91DBD1503C92}"/>
              </a:ext>
            </a:extLst>
          </p:cNvPr>
          <p:cNvSpPr>
            <a:spLocks noGrp="1"/>
          </p:cNvSpPr>
          <p:nvPr>
            <p:ph type="ftr" sz="quarter" idx="11"/>
          </p:nvPr>
        </p:nvSpPr>
        <p:spPr/>
        <p:txBody>
          <a:bodyPr/>
          <a:lstStyle/>
          <a:p>
            <a:r>
              <a:rPr lang="en-US"/>
              <a:t>Footer Text</a:t>
            </a:r>
          </a:p>
        </p:txBody>
      </p:sp>
      <p:sp>
        <p:nvSpPr>
          <p:cNvPr id="6" name="Date Placeholder 5">
            <a:extLst>
              <a:ext uri="{FF2B5EF4-FFF2-40B4-BE49-F238E27FC236}">
                <a16:creationId xmlns:a16="http://schemas.microsoft.com/office/drawing/2014/main" id="{CA0C3D4C-D264-078D-97FB-EB4D2452C9DE}"/>
              </a:ext>
            </a:extLst>
          </p:cNvPr>
          <p:cNvSpPr>
            <a:spLocks noGrp="1"/>
          </p:cNvSpPr>
          <p:nvPr>
            <p:ph type="dt" sz="half" idx="10"/>
          </p:nvPr>
        </p:nvSpPr>
        <p:spPr/>
        <p:txBody>
          <a:bodyPr/>
          <a:lstStyle/>
          <a:p>
            <a:fld id="{948C47DC-C479-4517-B1B0-94DB01BA76E7}" type="datetime1">
              <a:rPr lang="en-US" smtClean="0"/>
              <a:t>10/9/2025</a:t>
            </a:fld>
            <a:endParaRPr lang="en-US"/>
          </a:p>
        </p:txBody>
      </p:sp>
      <p:sp>
        <p:nvSpPr>
          <p:cNvPr id="7" name="Slide Number Placeholder 6">
            <a:extLst>
              <a:ext uri="{FF2B5EF4-FFF2-40B4-BE49-F238E27FC236}">
                <a16:creationId xmlns:a16="http://schemas.microsoft.com/office/drawing/2014/main" id="{668233C5-7196-0161-370F-A6113DF18FD4}"/>
              </a:ext>
            </a:extLst>
          </p:cNvPr>
          <p:cNvSpPr>
            <a:spLocks noGrp="1"/>
          </p:cNvSpPr>
          <p:nvPr>
            <p:ph type="sldNum" sz="quarter" idx="12"/>
          </p:nvPr>
        </p:nvSpPr>
        <p:spPr/>
        <p:txBody>
          <a:bodyPr/>
          <a:lstStyle/>
          <a:p>
            <a:fld id="{753D0FD4-819D-4187-8797-C35567B41C78}" type="slidenum">
              <a:rPr lang="en-US" smtClean="0"/>
              <a:t>19</a:t>
            </a:fld>
            <a:endParaRPr lang="en-US"/>
          </a:p>
        </p:txBody>
      </p:sp>
    </p:spTree>
    <p:extLst>
      <p:ext uri="{BB962C8B-B14F-4D97-AF65-F5344CB8AC3E}">
        <p14:creationId xmlns:p14="http://schemas.microsoft.com/office/powerpoint/2010/main" val="2059087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456B-A591-B320-BAEE-6C1B2AB8B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D0FA2-799A-D581-6587-8AC0F25E224E}"/>
              </a:ext>
            </a:extLst>
          </p:cNvPr>
          <p:cNvSpPr>
            <a:spLocks noGrp="1"/>
          </p:cNvSpPr>
          <p:nvPr>
            <p:ph type="title"/>
          </p:nvPr>
        </p:nvSpPr>
        <p:spPr>
          <a:xfrm>
            <a:off x="5171694" y="1247489"/>
            <a:ext cx="6564345" cy="1198627"/>
          </a:xfrm>
        </p:spPr>
        <p:txBody>
          <a:bodyPr>
            <a:normAutofit/>
          </a:bodyPr>
          <a:lstStyle/>
          <a:p>
            <a:r>
              <a:rPr lang="en-US"/>
              <a:t>FEATURES</a:t>
            </a:r>
          </a:p>
        </p:txBody>
      </p:sp>
      <p:pic>
        <p:nvPicPr>
          <p:cNvPr id="8" name="Picture Placeholder 7" descr="A screenshot of a computer&#10;&#10;AI-generated content may be incorrect.">
            <a:extLst>
              <a:ext uri="{FF2B5EF4-FFF2-40B4-BE49-F238E27FC236}">
                <a16:creationId xmlns:a16="http://schemas.microsoft.com/office/drawing/2014/main" id="{63823DEC-A233-B339-599D-3592C85C62EF}"/>
              </a:ext>
            </a:extLst>
          </p:cNvPr>
          <p:cNvPicPr>
            <a:picLocks noGrp="1" noChangeAspect="1"/>
          </p:cNvPicPr>
          <p:nvPr>
            <p:ph type="pic" sz="quarter" idx="13"/>
          </p:nvPr>
        </p:nvPicPr>
        <p:blipFill>
          <a:blip r:embed="rId2"/>
          <a:srcRect l="3364" r="3364"/>
          <a:stretch/>
        </p:blipFill>
        <p:spPr>
          <a:prstGeom prst="rect">
            <a:avLst/>
          </a:prstGeom>
          <a:blipFill>
            <a:blip r:embed="rId3">
              <a:alphaModFix amt="80000"/>
            </a:blip>
            <a:stretch>
              <a:fillRect/>
            </a:stretch>
          </a:blipFill>
        </p:spPr>
      </p:pic>
      <p:graphicFrame>
        <p:nvGraphicFramePr>
          <p:cNvPr id="9" name="Content Placeholder 8">
            <a:extLst>
              <a:ext uri="{FF2B5EF4-FFF2-40B4-BE49-F238E27FC236}">
                <a16:creationId xmlns:a16="http://schemas.microsoft.com/office/drawing/2014/main" id="{FF872251-F727-4FBF-AFD8-B38039AC5AA4}"/>
              </a:ext>
            </a:extLst>
          </p:cNvPr>
          <p:cNvGraphicFramePr>
            <a:graphicFrameLocks noGrp="1"/>
          </p:cNvGraphicFramePr>
          <p:nvPr>
            <p:ph idx="1"/>
          </p:nvPr>
        </p:nvGraphicFramePr>
        <p:xfrm>
          <a:off x="5267325" y="2651125"/>
          <a:ext cx="6327774" cy="4029551"/>
        </p:xfrm>
        <a:graphic>
          <a:graphicData uri="http://schemas.openxmlformats.org/drawingml/2006/table">
            <a:tbl>
              <a:tblPr bandRow="1">
                <a:tableStyleId>{5C22544A-7EE6-4342-B048-85BDC9FD1C3A}</a:tableStyleId>
              </a:tblPr>
              <a:tblGrid>
                <a:gridCol w="1755397">
                  <a:extLst>
                    <a:ext uri="{9D8B030D-6E8A-4147-A177-3AD203B41FA5}">
                      <a16:colId xmlns:a16="http://schemas.microsoft.com/office/drawing/2014/main" val="3061818564"/>
                    </a:ext>
                  </a:extLst>
                </a:gridCol>
                <a:gridCol w="4572377">
                  <a:extLst>
                    <a:ext uri="{9D8B030D-6E8A-4147-A177-3AD203B41FA5}">
                      <a16:colId xmlns:a16="http://schemas.microsoft.com/office/drawing/2014/main" val="268388005"/>
                    </a:ext>
                  </a:extLst>
                </a:gridCol>
              </a:tblGrid>
              <a:tr h="619925">
                <a:tc>
                  <a:txBody>
                    <a:bodyPr/>
                    <a:lstStyle/>
                    <a:p>
                      <a:pPr algn="l" rtl="0" fontAlgn="base">
                        <a:lnSpc>
                          <a:spcPts val="1575"/>
                        </a:lnSpc>
                        <a:buNone/>
                      </a:pPr>
                      <a:r>
                        <a:rPr lang="en-US" sz="1800" b="1" i="0" cap="all">
                          <a:solidFill>
                            <a:srgbClr val="131313"/>
                          </a:solidFill>
                          <a:effectLst/>
                          <a:latin typeface="Univers Condensed Light" panose="020B0306020202040204" pitchFamily="34" charset="0"/>
                        </a:rPr>
                        <a:t>Feature</a:t>
                      </a:r>
                      <a:endParaRPr lang="en-US" b="1" i="0">
                        <a:solidFill>
                          <a:srgbClr val="FFFFFF"/>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4049" cap="flat" cmpd="sng" algn="ctr">
                      <a:solidFill>
                        <a:srgbClr val="ED6845"/>
                      </a:solidFill>
                      <a:prstDash val="solid"/>
                      <a:round/>
                      <a:headEnd type="none" w="med" len="med"/>
                      <a:tailEnd type="none" w="med" len="med"/>
                    </a:lnB>
                    <a:noFill/>
                  </a:tcPr>
                </a:tc>
                <a:tc>
                  <a:txBody>
                    <a:bodyPr/>
                    <a:lstStyle/>
                    <a:p>
                      <a:pPr algn="l" rtl="0" fontAlgn="base">
                        <a:lnSpc>
                          <a:spcPts val="1575"/>
                        </a:lnSpc>
                        <a:buNone/>
                      </a:pPr>
                      <a:r>
                        <a:rPr lang="en-US" sz="1800" b="1" i="0" cap="all">
                          <a:solidFill>
                            <a:srgbClr val="131313"/>
                          </a:solidFill>
                          <a:effectLst/>
                          <a:latin typeface="Univers Condensed Light" panose="020B0306020202040204" pitchFamily="34" charset="0"/>
                        </a:rPr>
                        <a:t>Description</a:t>
                      </a:r>
                      <a:endParaRPr lang="en-US" b="1" i="0">
                        <a:solidFill>
                          <a:srgbClr val="FFFFFF"/>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4049" cap="flat" cmpd="sng" algn="ctr">
                      <a:solidFill>
                        <a:srgbClr val="ED6845"/>
                      </a:solidFill>
                      <a:prstDash val="solid"/>
                      <a:round/>
                      <a:headEnd type="none" w="med" len="med"/>
                      <a:tailEnd type="none" w="med" len="med"/>
                    </a:lnB>
                    <a:noFill/>
                  </a:tcPr>
                </a:tc>
                <a:extLst>
                  <a:ext uri="{0D108BD9-81ED-4DB2-BD59-A6C34878D82A}">
                    <a16:rowId xmlns:a16="http://schemas.microsoft.com/office/drawing/2014/main" val="117743526"/>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Dashboard</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4049" cap="flat" cmpd="sng" algn="ctr">
                      <a:solidFill>
                        <a:srgbClr val="ED6845"/>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Overview of daily progress including calories, water, and macronutrients</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4049" cap="flat" cmpd="sng" algn="ctr">
                      <a:solidFill>
                        <a:srgbClr val="ED6845"/>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923711541"/>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Camera</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Log meals using image recognition</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596753982"/>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Voice</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Log meals and water intake using voice commands</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4048231437"/>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History</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Review past nutrition and weight data</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2143164988"/>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Alerts</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Receive reminders and health tips</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309972186"/>
                  </a:ext>
                </a:extLst>
              </a:tr>
              <a:tr h="568271">
                <a:tc>
                  <a:txBody>
                    <a:bodyPr/>
                    <a:lstStyle/>
                    <a:p>
                      <a:pPr algn="l" rtl="0" fontAlgn="base">
                        <a:lnSpc>
                          <a:spcPts val="1275"/>
                        </a:lnSpc>
                        <a:buNone/>
                      </a:pPr>
                      <a:r>
                        <a:rPr lang="en-US" sz="1400" b="1" i="0">
                          <a:solidFill>
                            <a:srgbClr val="131313"/>
                          </a:solidFill>
                          <a:effectLst/>
                          <a:latin typeface="Univers Condensed Light" panose="020B0306020202040204" pitchFamily="34" charset="0"/>
                        </a:rPr>
                        <a:t>Profile</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4049" cap="flat" cmpd="sng" algn="ctr">
                      <a:solidFill>
                        <a:srgbClr val="ED6845"/>
                      </a:solidFill>
                      <a:prstDash val="solid"/>
                      <a:round/>
                      <a:headEnd type="none" w="med" len="med"/>
                      <a:tailEnd type="none" w="med" len="med"/>
                    </a:lnB>
                    <a:noFill/>
                  </a:tcPr>
                </a:tc>
                <a:tc>
                  <a:txBody>
                    <a:bodyPr/>
                    <a:lstStyle/>
                    <a:p>
                      <a:pPr algn="l" rtl="0" fontAlgn="base">
                        <a:lnSpc>
                          <a:spcPts val="1275"/>
                        </a:lnSpc>
                        <a:buNone/>
                      </a:pPr>
                      <a:r>
                        <a:rPr lang="en-US" sz="1400" b="0" i="0">
                          <a:solidFill>
                            <a:srgbClr val="131313"/>
                          </a:solidFill>
                          <a:effectLst/>
                          <a:latin typeface="Univers Condensed Light" panose="020B0306020202040204" pitchFamily="34" charset="0"/>
                        </a:rPr>
                        <a:t>Customize user settings and health goals</a:t>
                      </a:r>
                      <a:endParaRPr lang="en-US" b="0" i="0">
                        <a:solidFill>
                          <a:srgbClr val="131313"/>
                        </a:solidFill>
                        <a:effectLst/>
                      </a:endParaRPr>
                    </a:p>
                  </a:txBody>
                  <a:tcPr marL="112424" marR="112424" marT="112424" marB="11242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4049" cap="flat" cmpd="sng" algn="ctr">
                      <a:solidFill>
                        <a:srgbClr val="ED6845"/>
                      </a:solidFill>
                      <a:prstDash val="solid"/>
                      <a:round/>
                      <a:headEnd type="none" w="med" len="med"/>
                      <a:tailEnd type="none" w="med" len="med"/>
                    </a:lnB>
                    <a:noFill/>
                  </a:tcPr>
                </a:tc>
                <a:extLst>
                  <a:ext uri="{0D108BD9-81ED-4DB2-BD59-A6C34878D82A}">
                    <a16:rowId xmlns:a16="http://schemas.microsoft.com/office/drawing/2014/main" val="3319337767"/>
                  </a:ext>
                </a:extLst>
              </a:tr>
            </a:tbl>
          </a:graphicData>
        </a:graphic>
      </p:graphicFrame>
      <p:sp>
        <p:nvSpPr>
          <p:cNvPr id="5" name="Footer Placeholder 4">
            <a:extLst>
              <a:ext uri="{FF2B5EF4-FFF2-40B4-BE49-F238E27FC236}">
                <a16:creationId xmlns:a16="http://schemas.microsoft.com/office/drawing/2014/main" id="{F3B0FCB8-D6A3-4C9E-A980-6DE2189693E4}"/>
              </a:ext>
            </a:extLst>
          </p:cNvPr>
          <p:cNvSpPr>
            <a:spLocks noGrp="1"/>
          </p:cNvSpPr>
          <p:nvPr>
            <p:ph type="ftr" sz="quarter" idx="11"/>
          </p:nvPr>
        </p:nvSpPr>
        <p:spPr/>
        <p:txBody>
          <a:bodyPr/>
          <a:lstStyle/>
          <a:p>
            <a:r>
              <a:rPr lang="en-US"/>
              <a:t>Footer Text</a:t>
            </a:r>
          </a:p>
        </p:txBody>
      </p:sp>
      <p:sp>
        <p:nvSpPr>
          <p:cNvPr id="6" name="Date Placeholder 5">
            <a:extLst>
              <a:ext uri="{FF2B5EF4-FFF2-40B4-BE49-F238E27FC236}">
                <a16:creationId xmlns:a16="http://schemas.microsoft.com/office/drawing/2014/main" id="{AA4BCBDF-5F18-0F54-FF67-1B1CA6216C3A}"/>
              </a:ext>
            </a:extLst>
          </p:cNvPr>
          <p:cNvSpPr>
            <a:spLocks noGrp="1"/>
          </p:cNvSpPr>
          <p:nvPr>
            <p:ph type="dt" sz="half" idx="10"/>
          </p:nvPr>
        </p:nvSpPr>
        <p:spPr/>
        <p:txBody>
          <a:bodyPr/>
          <a:lstStyle/>
          <a:p>
            <a:fld id="{948C47DC-C479-4517-B1B0-94DB01BA76E7}" type="datetime1">
              <a:rPr lang="en-US" smtClean="0"/>
              <a:t>10/9/2025</a:t>
            </a:fld>
            <a:endParaRPr lang="en-US"/>
          </a:p>
        </p:txBody>
      </p:sp>
      <p:sp>
        <p:nvSpPr>
          <p:cNvPr id="7" name="Slide Number Placeholder 6">
            <a:extLst>
              <a:ext uri="{FF2B5EF4-FFF2-40B4-BE49-F238E27FC236}">
                <a16:creationId xmlns:a16="http://schemas.microsoft.com/office/drawing/2014/main" id="{4727F79E-B084-A577-115D-D5363E5E0A86}"/>
              </a:ext>
            </a:extLst>
          </p:cNvPr>
          <p:cNvSpPr>
            <a:spLocks noGrp="1"/>
          </p:cNvSpPr>
          <p:nvPr>
            <p:ph type="sldNum" sz="quarter" idx="12"/>
          </p:nvPr>
        </p:nvSpPr>
        <p:spPr/>
        <p:txBody>
          <a:bodyPr/>
          <a:lstStyle/>
          <a:p>
            <a:fld id="{753D0FD4-819D-4187-8797-C35567B41C78}" type="slidenum">
              <a:rPr lang="en-US" smtClean="0"/>
              <a:t>20</a:t>
            </a:fld>
            <a:endParaRPr lang="en-US"/>
          </a:p>
        </p:txBody>
      </p:sp>
    </p:spTree>
    <p:extLst>
      <p:ext uri="{BB962C8B-B14F-4D97-AF65-F5344CB8AC3E}">
        <p14:creationId xmlns:p14="http://schemas.microsoft.com/office/powerpoint/2010/main" val="3849225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0784-8125-DF60-452D-EEA26DA81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588B-C688-B2B9-6F59-44D2B157EFDB}"/>
              </a:ext>
            </a:extLst>
          </p:cNvPr>
          <p:cNvSpPr>
            <a:spLocks noGrp="1"/>
          </p:cNvSpPr>
          <p:nvPr>
            <p:ph type="title"/>
          </p:nvPr>
        </p:nvSpPr>
        <p:spPr>
          <a:xfrm>
            <a:off x="5171694" y="1247489"/>
            <a:ext cx="6564345" cy="1198627"/>
          </a:xfrm>
        </p:spPr>
        <p:txBody>
          <a:bodyPr>
            <a:normAutofit/>
          </a:bodyPr>
          <a:lstStyle/>
          <a:p>
            <a:r>
              <a:rPr lang="en-US"/>
              <a:t>Tracking progress</a:t>
            </a:r>
          </a:p>
        </p:txBody>
      </p:sp>
      <p:pic>
        <p:nvPicPr>
          <p:cNvPr id="8" name="Picture Placeholder 7" descr="A screenshot of a computer&#10;&#10;AI-generated content may be incorrect.">
            <a:extLst>
              <a:ext uri="{FF2B5EF4-FFF2-40B4-BE49-F238E27FC236}">
                <a16:creationId xmlns:a16="http://schemas.microsoft.com/office/drawing/2014/main" id="{0DF9EE88-D20B-2327-8E67-9CE09C63F199}"/>
              </a:ext>
            </a:extLst>
          </p:cNvPr>
          <p:cNvPicPr>
            <a:picLocks noGrp="1" noChangeAspect="1"/>
          </p:cNvPicPr>
          <p:nvPr>
            <p:ph type="pic" sz="quarter" idx="13"/>
          </p:nvPr>
        </p:nvPicPr>
        <p:blipFill>
          <a:blip r:embed="rId2"/>
          <a:srcRect l="3364" r="3364"/>
          <a:stretch/>
        </p:blipFill>
        <p:spPr>
          <a:prstGeom prst="rect">
            <a:avLst/>
          </a:prstGeom>
          <a:blipFill>
            <a:blip r:embed="rId3">
              <a:alphaModFix amt="80000"/>
            </a:blip>
            <a:stretch>
              <a:fillRect/>
            </a:stretch>
          </a:blipFill>
        </p:spPr>
      </p:pic>
      <p:sp>
        <p:nvSpPr>
          <p:cNvPr id="5" name="Footer Placeholder 4">
            <a:extLst>
              <a:ext uri="{FF2B5EF4-FFF2-40B4-BE49-F238E27FC236}">
                <a16:creationId xmlns:a16="http://schemas.microsoft.com/office/drawing/2014/main" id="{3C58359E-0020-3E5F-0876-0F0D565F0EB2}"/>
              </a:ext>
            </a:extLst>
          </p:cNvPr>
          <p:cNvSpPr>
            <a:spLocks noGrp="1"/>
          </p:cNvSpPr>
          <p:nvPr>
            <p:ph type="ftr" sz="quarter" idx="11"/>
          </p:nvPr>
        </p:nvSpPr>
        <p:spPr/>
        <p:txBody>
          <a:bodyPr/>
          <a:lstStyle/>
          <a:p>
            <a:r>
              <a:rPr lang="en-US"/>
              <a:t>Footer Text</a:t>
            </a:r>
          </a:p>
        </p:txBody>
      </p:sp>
      <p:sp>
        <p:nvSpPr>
          <p:cNvPr id="6" name="Date Placeholder 5">
            <a:extLst>
              <a:ext uri="{FF2B5EF4-FFF2-40B4-BE49-F238E27FC236}">
                <a16:creationId xmlns:a16="http://schemas.microsoft.com/office/drawing/2014/main" id="{E4AD9620-14B3-0C13-EB91-F6CD2D69F923}"/>
              </a:ext>
            </a:extLst>
          </p:cNvPr>
          <p:cNvSpPr>
            <a:spLocks noGrp="1"/>
          </p:cNvSpPr>
          <p:nvPr>
            <p:ph type="dt" sz="half" idx="10"/>
          </p:nvPr>
        </p:nvSpPr>
        <p:spPr/>
        <p:txBody>
          <a:bodyPr/>
          <a:lstStyle/>
          <a:p>
            <a:fld id="{948C47DC-C479-4517-B1B0-94DB01BA76E7}" type="datetime1">
              <a:rPr lang="en-US" smtClean="0"/>
              <a:t>10/9/2025</a:t>
            </a:fld>
            <a:endParaRPr lang="en-US"/>
          </a:p>
        </p:txBody>
      </p:sp>
      <p:sp>
        <p:nvSpPr>
          <p:cNvPr id="7" name="Slide Number Placeholder 6">
            <a:extLst>
              <a:ext uri="{FF2B5EF4-FFF2-40B4-BE49-F238E27FC236}">
                <a16:creationId xmlns:a16="http://schemas.microsoft.com/office/drawing/2014/main" id="{6752FCC6-DDC9-8D37-34F7-724F30FCAF2C}"/>
              </a:ext>
            </a:extLst>
          </p:cNvPr>
          <p:cNvSpPr>
            <a:spLocks noGrp="1"/>
          </p:cNvSpPr>
          <p:nvPr>
            <p:ph type="sldNum" sz="quarter" idx="12"/>
          </p:nvPr>
        </p:nvSpPr>
        <p:spPr/>
        <p:txBody>
          <a:bodyPr/>
          <a:lstStyle/>
          <a:p>
            <a:fld id="{753D0FD4-819D-4187-8797-C35567B41C78}" type="slidenum">
              <a:rPr lang="en-US" smtClean="0"/>
              <a:t>21</a:t>
            </a:fld>
            <a:endParaRPr lang="en-US"/>
          </a:p>
        </p:txBody>
      </p:sp>
      <p:graphicFrame>
        <p:nvGraphicFramePr>
          <p:cNvPr id="4" name="Table 3">
            <a:extLst>
              <a:ext uri="{FF2B5EF4-FFF2-40B4-BE49-F238E27FC236}">
                <a16:creationId xmlns:a16="http://schemas.microsoft.com/office/drawing/2014/main" id="{B1C353B3-C001-A2DC-67E1-1B8C8A80D3BF}"/>
              </a:ext>
            </a:extLst>
          </p:cNvPr>
          <p:cNvGraphicFramePr>
            <a:graphicFrameLocks noGrp="1"/>
          </p:cNvGraphicFramePr>
          <p:nvPr>
            <p:extLst>
              <p:ext uri="{D42A27DB-BD31-4B8C-83A1-F6EECF244321}">
                <p14:modId xmlns:p14="http://schemas.microsoft.com/office/powerpoint/2010/main" val="105821440"/>
              </p:ext>
            </p:extLst>
          </p:nvPr>
        </p:nvGraphicFramePr>
        <p:xfrm>
          <a:off x="5229481" y="2735037"/>
          <a:ext cx="6564654" cy="3929620"/>
        </p:xfrm>
        <a:graphic>
          <a:graphicData uri="http://schemas.openxmlformats.org/drawingml/2006/table">
            <a:tbl>
              <a:tblPr bandRow="1">
                <a:tableStyleId>{5C22544A-7EE6-4342-B048-85BDC9FD1C3A}</a:tableStyleId>
              </a:tblPr>
              <a:tblGrid>
                <a:gridCol w="2188218">
                  <a:extLst>
                    <a:ext uri="{9D8B030D-6E8A-4147-A177-3AD203B41FA5}">
                      <a16:colId xmlns:a16="http://schemas.microsoft.com/office/drawing/2014/main" val="3079668493"/>
                    </a:ext>
                  </a:extLst>
                </a:gridCol>
                <a:gridCol w="2188218">
                  <a:extLst>
                    <a:ext uri="{9D8B030D-6E8A-4147-A177-3AD203B41FA5}">
                      <a16:colId xmlns:a16="http://schemas.microsoft.com/office/drawing/2014/main" val="1745423498"/>
                    </a:ext>
                  </a:extLst>
                </a:gridCol>
                <a:gridCol w="2188218">
                  <a:extLst>
                    <a:ext uri="{9D8B030D-6E8A-4147-A177-3AD203B41FA5}">
                      <a16:colId xmlns:a16="http://schemas.microsoft.com/office/drawing/2014/main" val="957621233"/>
                    </a:ext>
                  </a:extLst>
                </a:gridCol>
              </a:tblGrid>
              <a:tr h="449100">
                <a:tc>
                  <a:txBody>
                    <a:bodyPr/>
                    <a:lstStyle/>
                    <a:p>
                      <a:pPr algn="l" rtl="0" fontAlgn="base">
                        <a:lnSpc>
                          <a:spcPts val="675"/>
                        </a:lnSpc>
                        <a:buNone/>
                      </a:pPr>
                      <a:r>
                        <a:rPr lang="en-US" sz="1800" b="1" i="0" cap="all">
                          <a:solidFill>
                            <a:schemeClr val="tx1"/>
                          </a:solidFill>
                          <a:effectLst/>
                          <a:latin typeface="Univers Condensed Light"/>
                        </a:rPr>
                        <a:t>Metric</a:t>
                      </a:r>
                      <a:endParaRPr lang="en-US" sz="1800" b="1"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6845"/>
                    </a:solidFill>
                  </a:tcPr>
                </a:tc>
                <a:tc>
                  <a:txBody>
                    <a:bodyPr/>
                    <a:lstStyle/>
                    <a:p>
                      <a:pPr algn="l" rtl="0" fontAlgn="base">
                        <a:lnSpc>
                          <a:spcPts val="675"/>
                        </a:lnSpc>
                        <a:buNone/>
                      </a:pPr>
                      <a:r>
                        <a:rPr lang="en-US" sz="1800" b="1" i="0" cap="all">
                          <a:solidFill>
                            <a:schemeClr val="tx1"/>
                          </a:solidFill>
                          <a:effectLst/>
                          <a:latin typeface="Univers Condensed Light"/>
                        </a:rPr>
                        <a:t>Current Value</a:t>
                      </a:r>
                      <a:endParaRPr lang="en-US" sz="1800" b="1"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6845"/>
                    </a:solidFill>
                  </a:tcPr>
                </a:tc>
                <a:tc>
                  <a:txBody>
                    <a:bodyPr/>
                    <a:lstStyle/>
                    <a:p>
                      <a:pPr algn="l" rtl="0" fontAlgn="base">
                        <a:lnSpc>
                          <a:spcPts val="675"/>
                        </a:lnSpc>
                        <a:buNone/>
                      </a:pPr>
                      <a:r>
                        <a:rPr lang="en-US" sz="1800" b="1" i="0" cap="all">
                          <a:solidFill>
                            <a:schemeClr val="tx1"/>
                          </a:solidFill>
                          <a:effectLst/>
                          <a:latin typeface="Univers Condensed Light"/>
                        </a:rPr>
                        <a:t>Target</a:t>
                      </a:r>
                      <a:endParaRPr lang="en-US" sz="1800" b="1"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6845"/>
                    </a:solidFill>
                  </a:tcPr>
                </a:tc>
                <a:extLst>
                  <a:ext uri="{0D108BD9-81ED-4DB2-BD59-A6C34878D82A}">
                    <a16:rowId xmlns:a16="http://schemas.microsoft.com/office/drawing/2014/main" val="3793517031"/>
                  </a:ext>
                </a:extLst>
              </a:tr>
              <a:tr h="435065">
                <a:tc>
                  <a:txBody>
                    <a:bodyPr/>
                    <a:lstStyle/>
                    <a:p>
                      <a:pPr algn="l" rtl="0" fontAlgn="base">
                        <a:lnSpc>
                          <a:spcPts val="525"/>
                        </a:lnSpc>
                        <a:buNone/>
                      </a:pPr>
                      <a:r>
                        <a:rPr lang="en-US" sz="1400" b="1" i="0">
                          <a:solidFill>
                            <a:schemeClr val="tx1"/>
                          </a:solidFill>
                          <a:effectLst/>
                          <a:latin typeface="Univers Condensed Light"/>
                        </a:rPr>
                        <a:t>Calories</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0</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2000</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3935464526"/>
                  </a:ext>
                </a:extLst>
              </a:tr>
              <a:tr h="435065">
                <a:tc>
                  <a:txBody>
                    <a:bodyPr/>
                    <a:lstStyle/>
                    <a:p>
                      <a:pPr algn="l" rtl="0" fontAlgn="base">
                        <a:lnSpc>
                          <a:spcPts val="525"/>
                        </a:lnSpc>
                        <a:buNone/>
                      </a:pPr>
                      <a:r>
                        <a:rPr lang="en-US" sz="1400" b="1" i="0">
                          <a:solidFill>
                            <a:schemeClr val="tx1"/>
                          </a:solidFill>
                          <a:effectLst/>
                          <a:latin typeface="Univers Condensed Light"/>
                        </a:rPr>
                        <a:t>Water Intake</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750ml</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2500ml</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416421301"/>
                  </a:ext>
                </a:extLst>
              </a:tr>
              <a:tr h="435065">
                <a:tc>
                  <a:txBody>
                    <a:bodyPr/>
                    <a:lstStyle/>
                    <a:p>
                      <a:pPr algn="l" rtl="0" fontAlgn="base">
                        <a:lnSpc>
                          <a:spcPts val="525"/>
                        </a:lnSpc>
                        <a:buNone/>
                      </a:pPr>
                      <a:r>
                        <a:rPr lang="en-US" sz="1400" b="1" i="0">
                          <a:solidFill>
                            <a:schemeClr val="tx1"/>
                          </a:solidFill>
                          <a:effectLst/>
                          <a:latin typeface="Univers Condensed Light"/>
                        </a:rPr>
                        <a:t>Protein</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0.0g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120595821"/>
                  </a:ext>
                </a:extLst>
              </a:tr>
              <a:tr h="435065">
                <a:tc>
                  <a:txBody>
                    <a:bodyPr/>
                    <a:lstStyle/>
                    <a:p>
                      <a:pPr algn="l" rtl="0" fontAlgn="base">
                        <a:lnSpc>
                          <a:spcPts val="525"/>
                        </a:lnSpc>
                        <a:buNone/>
                      </a:pPr>
                      <a:r>
                        <a:rPr lang="en-US" sz="1400" b="1" i="0">
                          <a:solidFill>
                            <a:schemeClr val="tx1"/>
                          </a:solidFill>
                          <a:effectLst/>
                          <a:latin typeface="Univers Condensed Light"/>
                        </a:rPr>
                        <a:t>Carbs</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0.0g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837930577"/>
                  </a:ext>
                </a:extLst>
              </a:tr>
              <a:tr h="435065">
                <a:tc>
                  <a:txBody>
                    <a:bodyPr/>
                    <a:lstStyle/>
                    <a:p>
                      <a:pPr algn="l" rtl="0" fontAlgn="base">
                        <a:lnSpc>
                          <a:spcPts val="525"/>
                        </a:lnSpc>
                        <a:buNone/>
                      </a:pPr>
                      <a:r>
                        <a:rPr lang="en-US" sz="1400" b="1" i="0">
                          <a:solidFill>
                            <a:schemeClr val="tx1"/>
                          </a:solidFill>
                          <a:effectLst/>
                          <a:latin typeface="Univers Condensed Light"/>
                        </a:rPr>
                        <a:t>Fat</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0.0g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365888788"/>
                  </a:ext>
                </a:extLst>
              </a:tr>
              <a:tr h="435065">
                <a:tc>
                  <a:txBody>
                    <a:bodyPr/>
                    <a:lstStyle/>
                    <a:p>
                      <a:pPr algn="l" rtl="0" fontAlgn="base">
                        <a:lnSpc>
                          <a:spcPts val="525"/>
                        </a:lnSpc>
                        <a:buNone/>
                      </a:pPr>
                      <a:r>
                        <a:rPr lang="en-US" sz="1400" b="1" i="0">
                          <a:solidFill>
                            <a:schemeClr val="tx1"/>
                          </a:solidFill>
                          <a:effectLst/>
                          <a:latin typeface="Univers Condensed Light"/>
                        </a:rPr>
                        <a:t>Weight</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75.0kg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70.0kg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1577509312"/>
                  </a:ext>
                </a:extLst>
              </a:tr>
              <a:tr h="435065">
                <a:tc>
                  <a:txBody>
                    <a:bodyPr/>
                    <a:lstStyle/>
                    <a:p>
                      <a:pPr algn="l" rtl="0" fontAlgn="base">
                        <a:lnSpc>
                          <a:spcPts val="525"/>
                        </a:lnSpc>
                        <a:buNone/>
                      </a:pPr>
                      <a:r>
                        <a:rPr lang="en-US" sz="1400" b="1" i="0">
                          <a:solidFill>
                            <a:schemeClr val="tx1"/>
                          </a:solidFill>
                          <a:effectLst/>
                          <a:latin typeface="Univers Condensed Light"/>
                        </a:rPr>
                        <a:t>Total Weight Loss</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1.2kg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5.0kg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9525" cap="flat" cmpd="sng" algn="ctr">
                      <a:solidFill>
                        <a:srgbClr val="131313"/>
                      </a:solidFill>
                      <a:prstDash val="solid"/>
                      <a:round/>
                      <a:headEnd type="none" w="med" len="med"/>
                      <a:tailEnd type="none" w="med" len="med"/>
                    </a:lnB>
                    <a:noFill/>
                  </a:tcPr>
                </a:tc>
                <a:extLst>
                  <a:ext uri="{0D108BD9-81ED-4DB2-BD59-A6C34878D82A}">
                    <a16:rowId xmlns:a16="http://schemas.microsoft.com/office/drawing/2014/main" val="2054544996"/>
                  </a:ext>
                </a:extLst>
              </a:tr>
              <a:tr h="435065">
                <a:tc>
                  <a:txBody>
                    <a:bodyPr/>
                    <a:lstStyle/>
                    <a:p>
                      <a:pPr algn="l" rtl="0" fontAlgn="base">
                        <a:lnSpc>
                          <a:spcPts val="525"/>
                        </a:lnSpc>
                        <a:buNone/>
                      </a:pPr>
                      <a:r>
                        <a:rPr lang="en-US" sz="1400" b="1" i="0">
                          <a:solidFill>
                            <a:schemeClr val="tx1"/>
                          </a:solidFill>
                          <a:effectLst/>
                          <a:latin typeface="Univers Condensed Light"/>
                        </a:rPr>
                        <a:t>Weekly Goal</a:t>
                      </a:r>
                      <a:endParaRPr lang="en-US" sz="1400" b="0" i="0">
                        <a:solidFill>
                          <a:schemeClr val="tx1"/>
                        </a:solidFill>
                        <a:effectLst/>
                        <a:latin typeface="Univers Condensed Light"/>
                      </a:endParaRP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0.2kg</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525"/>
                        </a:lnSpc>
                        <a:buNone/>
                      </a:pPr>
                      <a:r>
                        <a:rPr lang="en-US" sz="1400" b="0" i="0">
                          <a:solidFill>
                            <a:schemeClr val="tx1"/>
                          </a:solidFill>
                          <a:effectLst/>
                          <a:latin typeface="Univers Condensed Light"/>
                        </a:rPr>
                        <a:t>--</a:t>
                      </a:r>
                    </a:p>
                  </a:txBody>
                  <a:tcPr marL="48149" marR="48149" marT="48149" marB="48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131313"/>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533407903"/>
                  </a:ext>
                </a:extLst>
              </a:tr>
            </a:tbl>
          </a:graphicData>
        </a:graphic>
      </p:graphicFrame>
    </p:spTree>
    <p:extLst>
      <p:ext uri="{BB962C8B-B14F-4D97-AF65-F5344CB8AC3E}">
        <p14:creationId xmlns:p14="http://schemas.microsoft.com/office/powerpoint/2010/main" val="3818408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98262-3372-E508-6CEC-3B8419DB0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6C0AB-FCFD-190C-EFE7-A85D12A62704}"/>
              </a:ext>
            </a:extLst>
          </p:cNvPr>
          <p:cNvSpPr>
            <a:spLocks noGrp="1"/>
          </p:cNvSpPr>
          <p:nvPr>
            <p:ph type="title"/>
          </p:nvPr>
        </p:nvSpPr>
        <p:spPr>
          <a:xfrm>
            <a:off x="64008" y="1435608"/>
            <a:ext cx="11594592" cy="5559552"/>
          </a:xfrm>
        </p:spPr>
        <p:txBody>
          <a:bodyPr anchor="b">
            <a:normAutofit/>
          </a:bodyPr>
          <a:lstStyle/>
          <a:p>
            <a:r>
              <a:rPr lang="en-US"/>
              <a:t>Q &amp; A</a:t>
            </a:r>
          </a:p>
        </p:txBody>
      </p:sp>
      <p:sp>
        <p:nvSpPr>
          <p:cNvPr id="4" name="Footer Placeholder 3">
            <a:extLst>
              <a:ext uri="{FF2B5EF4-FFF2-40B4-BE49-F238E27FC236}">
                <a16:creationId xmlns:a16="http://schemas.microsoft.com/office/drawing/2014/main" id="{A4732E2E-B77D-5964-C238-4CFD4B985C5D}"/>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4DC2315D-425C-CA3C-92BC-0BA1C62C8261}"/>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860418EA-3E0F-FBA6-0128-DEC90C1A39E9}"/>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22</a:t>
            </a:fld>
            <a:endParaRPr lang="en-US"/>
          </a:p>
        </p:txBody>
      </p:sp>
    </p:spTree>
    <p:extLst>
      <p:ext uri="{BB962C8B-B14F-4D97-AF65-F5344CB8AC3E}">
        <p14:creationId xmlns:p14="http://schemas.microsoft.com/office/powerpoint/2010/main" val="3993722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71A6-92EA-08E4-4BA1-3C639CFEA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3D334-21F7-757B-5D4D-26F87F39A518}"/>
              </a:ext>
            </a:extLst>
          </p:cNvPr>
          <p:cNvSpPr>
            <a:spLocks noGrp="1"/>
          </p:cNvSpPr>
          <p:nvPr>
            <p:ph type="title"/>
          </p:nvPr>
        </p:nvSpPr>
        <p:spPr>
          <a:xfrm>
            <a:off x="2873882" y="1899951"/>
            <a:ext cx="6451093" cy="3059240"/>
          </a:xfrm>
        </p:spPr>
        <p:txBody>
          <a:bodyPr anchor="b">
            <a:normAutofit fontScale="90000"/>
          </a:bodyPr>
          <a:lstStyle/>
          <a:p>
            <a:r>
              <a:rPr lang="en-US"/>
              <a:t>Thank you</a:t>
            </a:r>
          </a:p>
        </p:txBody>
      </p:sp>
      <p:sp>
        <p:nvSpPr>
          <p:cNvPr id="4" name="Footer Placeholder 3">
            <a:extLst>
              <a:ext uri="{FF2B5EF4-FFF2-40B4-BE49-F238E27FC236}">
                <a16:creationId xmlns:a16="http://schemas.microsoft.com/office/drawing/2014/main" id="{3B099298-98E5-476A-F081-E8060105AB79}"/>
              </a:ext>
            </a:extLst>
          </p:cNvPr>
          <p:cNvSpPr>
            <a:spLocks noGrp="1"/>
          </p:cNvSpPr>
          <p:nvPr>
            <p:ph type="ftr" sz="quarter" idx="11"/>
          </p:nvPr>
        </p:nvSpPr>
        <p:spPr>
          <a:xfrm>
            <a:off x="317773" y="207982"/>
            <a:ext cx="2963692" cy="413360"/>
          </a:xfrm>
        </p:spPr>
        <p:txBody>
          <a:bodyPr anchor="ctr">
            <a:normAutofit/>
          </a:bodyPr>
          <a:lstStyle/>
          <a:p>
            <a:r>
              <a:rPr lang="en-US" sz="900"/>
              <a:t>THE CALORIE COACH</a:t>
            </a:r>
            <a:endParaRPr lang="en-US" sz="900" b="0">
              <a:solidFill>
                <a:srgbClr val="000000"/>
              </a:solidFill>
            </a:endParaRPr>
          </a:p>
        </p:txBody>
      </p:sp>
      <p:sp>
        <p:nvSpPr>
          <p:cNvPr id="6" name="Date Placeholder 5">
            <a:extLst>
              <a:ext uri="{FF2B5EF4-FFF2-40B4-BE49-F238E27FC236}">
                <a16:creationId xmlns:a16="http://schemas.microsoft.com/office/drawing/2014/main" id="{AAC0D3A4-1382-C770-F048-4001CE146C81}"/>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10/9/2025</a:t>
            </a:fld>
            <a:endParaRPr lang="en-US"/>
          </a:p>
        </p:txBody>
      </p:sp>
      <p:sp>
        <p:nvSpPr>
          <p:cNvPr id="7" name="Slide Number Placeholder 6">
            <a:extLst>
              <a:ext uri="{FF2B5EF4-FFF2-40B4-BE49-F238E27FC236}">
                <a16:creationId xmlns:a16="http://schemas.microsoft.com/office/drawing/2014/main" id="{9A847F45-8598-AE11-086C-E2230F64C3EC}"/>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23</a:t>
            </a:fld>
            <a:endParaRPr lang="en-US"/>
          </a:p>
        </p:txBody>
      </p:sp>
    </p:spTree>
    <p:extLst>
      <p:ext uri="{BB962C8B-B14F-4D97-AF65-F5344CB8AC3E}">
        <p14:creationId xmlns:p14="http://schemas.microsoft.com/office/powerpoint/2010/main" val="1144001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23</Slides>
  <Notes>19</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Editorial</vt:lpstr>
      <vt:lpstr>The Calorie COACH</vt:lpstr>
      <vt:lpstr>Introduction</vt:lpstr>
      <vt:lpstr>Introducing a Mobile AI Agent for Real-Time Nutritional Analysis</vt:lpstr>
      <vt:lpstr>Problem Statement</vt:lpstr>
      <vt:lpstr>Challenges in Manual Food Logging</vt:lpstr>
      <vt:lpstr>Solution Overview</vt:lpstr>
      <vt:lpstr>Capabilities of the Mobile AI Agent</vt:lpstr>
      <vt:lpstr>Architecture</vt:lpstr>
      <vt:lpstr>System Components and Integration</vt:lpstr>
      <vt:lpstr>Tech Stack</vt:lpstr>
      <vt:lpstr>Technologies and Tools Used</vt:lpstr>
      <vt:lpstr>Workflow</vt:lpstr>
      <vt:lpstr>Step-by-Step User Interaction</vt:lpstr>
      <vt:lpstr>MVP Features</vt:lpstr>
      <vt:lpstr>Key Functionalities of the Minimum Viable Product</vt:lpstr>
      <vt:lpstr>Next Steps</vt:lpstr>
      <vt:lpstr>Development and Deployment Plan</vt:lpstr>
      <vt:lpstr>INTRO to Calorie coach</vt:lpstr>
      <vt:lpstr>INTRO to Calorie coach</vt:lpstr>
      <vt:lpstr>FEATURES</vt:lpstr>
      <vt:lpstr>Tracking progress</vt:lpstr>
      <vt:lpstr>Q &amp; 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cp:revision>
  <dcterms:created xsi:type="dcterms:W3CDTF">2013-07-15T20:26:40Z</dcterms:created>
  <dcterms:modified xsi:type="dcterms:W3CDTF">2025-10-10T02:24:12Z</dcterms:modified>
</cp:coreProperties>
</file>